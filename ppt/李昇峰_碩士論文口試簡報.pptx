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3"/>
  </p:notesMasterIdLst>
  <p:sldIdLst>
    <p:sldId id="256" r:id="rId2"/>
    <p:sldId id="349" r:id="rId3"/>
    <p:sldId id="348" r:id="rId4"/>
    <p:sldId id="350" r:id="rId5"/>
    <p:sldId id="351" r:id="rId6"/>
    <p:sldId id="352" r:id="rId7"/>
    <p:sldId id="410" r:id="rId8"/>
    <p:sldId id="411" r:id="rId9"/>
    <p:sldId id="412" r:id="rId10"/>
    <p:sldId id="414" r:id="rId11"/>
    <p:sldId id="413" r:id="rId12"/>
    <p:sldId id="415" r:id="rId13"/>
    <p:sldId id="359" r:id="rId14"/>
    <p:sldId id="360" r:id="rId15"/>
    <p:sldId id="361" r:id="rId16"/>
    <p:sldId id="362" r:id="rId17"/>
    <p:sldId id="363" r:id="rId18"/>
    <p:sldId id="364" r:id="rId19"/>
    <p:sldId id="365" r:id="rId20"/>
    <p:sldId id="366" r:id="rId21"/>
    <p:sldId id="367" r:id="rId22"/>
    <p:sldId id="368" r:id="rId23"/>
    <p:sldId id="369" r:id="rId24"/>
    <p:sldId id="370" r:id="rId25"/>
    <p:sldId id="371" r:id="rId26"/>
    <p:sldId id="372" r:id="rId27"/>
    <p:sldId id="373" r:id="rId28"/>
    <p:sldId id="374" r:id="rId29"/>
    <p:sldId id="375" r:id="rId30"/>
    <p:sldId id="376" r:id="rId31"/>
    <p:sldId id="377" r:id="rId32"/>
    <p:sldId id="378" r:id="rId33"/>
    <p:sldId id="379" r:id="rId34"/>
    <p:sldId id="390" r:id="rId35"/>
    <p:sldId id="391" r:id="rId36"/>
    <p:sldId id="392" r:id="rId37"/>
    <p:sldId id="393" r:id="rId38"/>
    <p:sldId id="394" r:id="rId39"/>
    <p:sldId id="395" r:id="rId40"/>
    <p:sldId id="396" r:id="rId41"/>
    <p:sldId id="380" r:id="rId42"/>
    <p:sldId id="381" r:id="rId43"/>
    <p:sldId id="382" r:id="rId44"/>
    <p:sldId id="384" r:id="rId45"/>
    <p:sldId id="383" r:id="rId46"/>
    <p:sldId id="385" r:id="rId47"/>
    <p:sldId id="386" r:id="rId48"/>
    <p:sldId id="387" r:id="rId49"/>
    <p:sldId id="388" r:id="rId50"/>
    <p:sldId id="389" r:id="rId51"/>
    <p:sldId id="397" r:id="rId5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948"/>
    <p:restoredTop sz="72550"/>
  </p:normalViewPr>
  <p:slideViewPr>
    <p:cSldViewPr snapToGrid="0" snapToObjects="1">
      <p:cViewPr>
        <p:scale>
          <a:sx n="95" d="100"/>
          <a:sy n="95" d="100"/>
        </p:scale>
        <p:origin x="-16" y="1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018048-A036-5A44-BEF3-A5A94A0BE004}" type="datetimeFigureOut">
              <a:rPr kumimoji="1" lang="zh-TW" altLang="en-US" smtClean="0"/>
              <a:t>2026/6/4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08AA4C9-1ED7-304D-B103-229AA8CA50B5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477480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現有以 LLM 為核心的生成式代理（Park 等人 2023）雖能模擬記憶、反思與規劃，但在「情緒感知與量化表達」上有明顯缺口——智能體決策缺乏系統性情感建模，限制了社交互動的真實性。同時傳統社會調查面臨成本高、樣本偏差、配合度不穩等問題。本研究因此整合多模態情感分析與生成式代理兩大技術線，補上情感量化這塊缺口，並探索以情緒感知 AI 智能體進行智能問卷調查的可行性。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現有以 LLM 為核心的生成式代理（Park 等人 2023）雖能模擬記憶、反思與規劃，但在「情緒感知與量化表達」上有明顯缺口——智能體決策缺乏系統性情感建模，限制了社交互動的真實性。同時傳統社會調查面臨成本高、樣本偏差、配合度不穩等問題。本研究因此整合多模態情感分析與生成式代理兩大技術線，補上情感量化這塊缺口，並探索以情緒感知 AI 智能體進行智能問卷調查的可行性。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現有以 LLM 為核心的生成式代理（Park 等人 2023）雖能模擬記憶、反思與規劃，但在「情緒感知與量化表達」上有明顯缺口——智能體決策缺乏系統性情感建模，限制了社交互動的真實性。同時傳統社會調查面臨成本高、樣本偏差、配合度不穩等問題。本研究因此整合多模態情感分析與生成式代理兩大技術線，補上情感量化這塊缺口，並探索以情緒感知 AI 智能體進行智能問卷調查的可行性。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本研究有雙核心目標：一是設計並實現 SACF 情感評分模型，在 CMU-MOSI 七分類情感強度任務上達到 Acc-7 53.06%，超越強基線約 4.6 個百分點；二是把這個情感分數接到一個情緒感知多代理模擬與智能問卷系統，讓 9 個具獨特人格的 AI 居民能依情緒動態調整對話與行為。簡單說，前半段是建模型、後半段是把模型落地成一個會「有情緒」的多智能體社群平台。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第二章從五個層面盤點相關文獻：智能體理論基礎、情感計算與多模態情感分析、預訓練語言模型的跨模態融合、多智能體系統，最後收斂到本研究的定位。核心脈絡是——生成式代理已能模擬認知，多模態情感分析已能量化情緒，但兩者尚未被整合；本研究正是補上這個交集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智能體理論可追溯到 SOAR、ACT-R、ICARUS 等認知架構傳統，近年由 Park 等人的生成式代理框架集大成，提出記憶流、反思、規劃三大認知組件。這些架構奠定了「感知—思考—行動」認知循環的基礎，但都偏重認知推理，缺乏對情緒狀態的內在表徵。本研究的系統正是承襲此架構並在循環中新增情緒階段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情感計算指出人類情感表達是語言、語音、視覺多模態協同的結果，單靠文字無法完整捕捉。多模態情感分析因此成為核心技術，重點在於如何融合三個模態的互補訊號。本研究借鑑此領域的跨模態注意力與對齊技術，作為 SACF 情感評分引擎的設計依據。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預訓練語言模型時代，DeBERTa-v3-large 的解耦注意力大幅提升了文字情感語義的捕捉精度，搭配雙向 LSTM 編碼音訊與視覺時序，再以跨模態注意力融合，成為主流範式。MISA、Self-MM、MMIM、UniMSE、MGT 等代表方法各自在表示分解、對比學習、加法注意力上做出貢獻。本研究站在這些基礎上，提出以情感顯著詞元驅動融合的新做法。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多智能體系統研究關注智能體間的社會互動與協作，LLM 的加入讓每個智能體都能自然語言推理、形成可信的社會行為。但現有 MAS 的互動多半是機械式的文字交換，缺乏情緒這個人際互動的核心驅動力。這正是本研究要補強的——讓多智能體系統具備動態情緒回應。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綜合上述，本研究的定位是兩條技術線的交會點：把多模態情感分析（SACF）作為情感感知引擎，嵌入生成式代理的認知循環，形成具情緒深度的多智能體系統。相較既有工作，貢獻在於「情感量化 × 認知模擬」的整合，並進一步探索以此進行智能問卷調查的新範式。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第二章從五個層面盤點相關文獻：智能體理論基礎、情感計算與多模態情感分析、預訓練語言模型的跨模態融合、多智能體系統，最後收斂到本研究的定位。核心脈絡是——生成式代理已能模擬認知，多模態情感分析已能量化情緒，但兩者尚未被整合；本研究正是補上這個交集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情感計算指出人類情感表達是語言、語音、視覺多模態協同的結果，單靠文字無法完整捕捉。多模態情感分析因此成為核心技術，重點在於如何融合三個模態的互補訊號。本研究借鑑此領域的跨模態注意力與對齊技術，作為 SACF 情感評分引擎的設計依據。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多智能體系統研究關注智能體間的社會互動與協作，LLM 的加入讓每個智能體都能自然語言推理、形成可信的社會行為。但現有 MAS 的互動多半是機械式的文字交換，缺乏情緒這個人際互動的核心驅動力。這正是本研究要補強的——讓多智能體系統具備動態情緒回應。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第三章提出 SACF 模型。核心思路是反其道而行：傳統靠維護多個模型做測試時集成，既佔記憶體又難部署；本研究把「集成多樣性」內建到單一模型內部——上游共享編碼、下游設計 4 條結構同形但參數獨立的並行分支，各用不同隨機失活率走不同路徑。再加上階層式二階段跨模態融合、兩階段訓練與三次執行的參數空間集成，推斷時只需一次前向傳播就享有集成效益。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整體架構分四個橫向區塊：最上是文字、音訊、視覺三個原始輸入；第二區塊是共享上游編碼器（文字進 24 層 Transformer、音訊與視覺各進雙向 LSTM）；第三區塊是核心——4 條並行分支，每條依序做極性增強注意力閘控、二段式跨模態融合、共享投影層，輸出七分類、二分類與情感強度回歸；第四區塊將四分支平均，推斷時再套用 TTA、合併權重與機率融合輸出最終結果。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整體架構分四個橫向區塊：最上是文字、音訊、視覺三個原始輸入；第二區塊是共享上游編碼器（文字進 24 層 Transformer、音訊與視覺各進雙向 LSTM）；第三區塊是核心——4 條並行分支，每條依序做極性增強注意力閘控、二段式跨模態融合、共享投影層，輸出七分類、二分類與情感強度回歸；第四區塊將四分支平均，推斷時再套用 TTA、合併權重與機率融合輸出最終結果。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模型用五項關鍵技術組成多工損失：軟序數標籤交叉熵（利用七類別的序數性，相鄰類錯誤懲罰較輕）、序數地球移動距離損失（約束預測分布形狀）、Smooth-L1 回歸損失、R-Drop 一致性正則（兩次前向最小化 KL 散度，等效隱式資料增強），以及跨模態對比損失 LCMC（InfoNCE 形式，僅第二階段啟用）。設計重點是同時兼顧分類與回歸目標，並強化跨模態對齊。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訓練分兩階段。第一階段 60 epoch 基底訓練（不含 LCMC），內部再分三相位：先凍結文字骨幹下層、再全模型微調、最後做隨機權重平均（SWA）收尾；第二階段 20 epoch 以 SWA 權重為起點、降低學習率並加入跨模態對比損失做精修。關鍵分界是 LCMC 只在第二階段啟用。整套協議跑三次獨立執行，最後在參數空間以 0.25/0.45/0.30 加權合併成單一權重檔（Model Soups）。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訓練分兩階段。第一階段 60 epoch 基底訓練（不含 LCMC），內部再分三相位：先凍結文字骨幹下層、再全模型微調、最後做隨機權重平均（SWA）收尾；第二階段 20 epoch 以 SWA 權重為起點、降低學習率並加入跨模態對比損失做精修。關鍵分界是 LCMC 只在第二階段啟用。整套協議跑三次獨立執行，最後在參數空間以 0.25/0.45/0.30 加權合併成單一權重檔（Model Soups）。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在 CMU-MOSI 測試集上，SACF 達成 Acc-7 53.06%、Acc-2 85.42%、F1 85.41%、MAE 0.5840、Corr 0.8691，超越預設 53% 的研究目標。其中 Acc-7、MAE、Corr 三項序數性指標全面領先所有基線：Acc-7 較最強基線 MGT 提升 2.62 個百分點、MAE 較最強基線降低 11.4%。這驗證了情感感知跨模態融合對細粒度與連續情感強度的捕捉優勢。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在 CMU-MOSI 測試集上，SACF 達成 Acc-7 53.06%、Acc-2 85.42%、F1 85.41%、MAE 0.5840、Corr 0.8691，超越預設 53% 的研究目標。其中 Acc-7、MAE、Corr 三項序數性指標全面領先所有基線：Acc-7 較最強基線 MGT 提升 2.62 個百分點、MAE 較最強基線降低 11.4%。這驗證了情感感知跨模態融合對細粒度與連續情感強度的捕捉優勢。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本研究對標 MGT 論文整理的十三個代表性基線，涵蓋 LF-DNN、Graph-MFN、MISA、Self-MM、MMIM、DMD、ITHP、UniMSE、MGT 等，從早期特徵拼接到近期對比學習與跨模態注意力都有。其中 MGT（以預訓練語言模型為主模態、設計跨模態加法注意力與邊際損失）是最強基線、也是主要對標對象。所有基線數值直接引自原始論文以確保比較公平。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本研究對標 MGT 論文整理的十三個代表性基線，涵蓋 LF-DNN、Graph-MFN、MISA、Self-MM、MMIM、DMD、ITHP、UniMSE、MGT 等，從早期特徵拼接到近期對比學習與跨模態注意力都有。其中 MGT（以預訓練語言模型為主模態、設計跨模態加法注意力與邊際損失）是最強基線、也是主要對標對象。所有基線數值直接引自原始論文以確保比較公平。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為驗證泛化能力，把 CMU-MOSI 訓練好的 SACF 骨幹拿去 MMAFFBen 與 SemEval-2018 做輕量遷移（1–3 epoch 微調）。在 MMAFFBen 五個純文字任務上，SACF-Text 以僅 0.435B 參數量達成平均 ma-F1 56.74，與十倍以上參數量的 MMAFFLM-3b/7b 同一水準，並大幅領先 GPT-4o-mini。尤其 MMS 三語情感強度任務排名第一，顯示極性增強注意力對跨語言情感強度估計有高度遷移力。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為驗證泛化能力，把 CMU-MOSI 訓練好的 SACF 骨幹拿去 MMAFFBen 與 SemEval-2018 做輕量遷移（1–3 epoch 微調）。在 MMAFFBen 五個純文字任務上，SACF-Text 以僅 0.435B 參數量達成平均 ma-F1 56.74，與十倍以上參數量的 MMAFFLM-3b/7b 同一水準，並大幅領先 GPT-4o-mini。尤其 MMS 三語情感強度任務排名第一，顯示極性增強注意力對跨語言情感強度估計有高度遷移力。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在 CMU-MOSI 測試集上，SACF 達成 Acc-7 53.06%、Acc-2 85.42%、F1 85.41%、MAE 0.5840、Corr 0.8691，超越預設 53% 的研究目標。其中 Acc-7、MAE、Corr 三項序數性指標全面領先所有基線：Acc-7 較最強基線 MGT 提升 2.62 個百分點、MAE 較最強基線降低 11.4%。這驗證了情感感知跨模態融合對細粒度與連續情感強度的捕捉優勢。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本研究對標 MGT 論文整理的十三個代表性基線，涵蓋 LF-DNN、Graph-MFN、MISA、Self-MM、MMIM、DMD、ITHP、UniMSE、MGT 等，從早期特徵拼接到近期對比學習與跨模態注意力都有。其中 MGT（以預訓練語言模型為主模態、設計跨模態加法注意力與邊際損失）是最強基線、也是主要對標對象。所有基線數值直接引自原始論文以確保比較公平。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為驗證泛化能力，把 CMU-MOSI 訓練好的 SACF 骨幹拿去 MMAFFBen 與 SemEval-2018 做輕量遷移（1–3 epoch 微調）。在 MMAFFBen 五個純文字任務上，SACF-Text 以僅 0.435B 參數量達成平均 ma-F1 56.74，與十倍以上參數量的 MMAFFLM-3b/7b 同一水準，並大幅領先 GPT-4o-mini。尤其 MMS 三語情感強度任務排名第一，顯示極性增強注意力對跨語言情感強度估計有高度遷移力。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在 CMU-MOSI 測試集上，SACF 達成 Acc-7 53.06%、Acc-2 85.42%、F1 85.41%、MAE 0.5840、Corr 0.8691，超越預設 53% 的研究目標。其中 Acc-7、MAE、Corr 三項序數性指標全面領先所有基線：Acc-7 較最強基線 MGT 提升 2.62 個百分點、MAE 較最強基線降低 11.4%。這驗證了情感感知跨模態融合對細粒度與連續情感強度的捕捉優勢。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第五章把 SACF 落地成系統。架構承襲 Park 等人的生成式代理框架（記憶流、反思、規劃），並做四項延伸：一是把 SACF 嵌入感知模組，讓智能體能感知他人言談與語氣中的情感；二是在認知循環中新增情緒階段，具備情緒表徵、衰減與行為調節；三是調整提示工程模板調控行為；四是全面在地化為中文語境，採用本地模型 Qwen2.5:32b 作為核心推理引擎。資料流遵循感知—思考—行動的認知循環。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第五章把 SACF 落地成系統。架構承襲 Park 等人的生成式代理框架（記憶流、反思、規劃），並做四項延伸：一是把 SACF 嵌入感知模組，讓智能體能感知他人言談與語氣中的情感；二是在認知循環中新增情緒階段，具備情緒表徵、衰減與行為調節；三是調整提示工程模板調控行為；四是全面在地化為中文語境，採用本地模型 Qwen2.5:32b 作為核心推理引擎。資料流遵循感知—思考—行動的認知循環。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第五章把 SACF 落地成系統。架構承襲 Park 等人的生成式代理框架（記憶流、反思、規劃），並做四項延伸：一是把 SACF 嵌入感知模組，讓智能體能感知他人言談與語氣中的情感；二是在認知循環中新增情緒階段，具備情緒表徵、衰減與行為調節；三是調整提示工程模板調控行為；四是全面在地化為中文語境，採用本地模型 Qwen2.5:32b 作為核心推理引擎。資料流遵循感知—思考—行動的認知循環。</a:t>
            </a: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結論有三大貢獻：一是提出以情感顯著詞元驅動跨模態融合的新範式，讓跨模態注意力聚焦在與情感極性最相關的語意單元；二是設計適用於序數情感標籤的多工損失與零洩漏推斷流程，兼顧分類與回歸且避免測試時資訊洩漏；三是系統性驗證方法可遷移到多語言、多任務情感分析場景。SACF 在 CMU-MOSI 達 Acc-7 53.06%、MAE 0.5840、Corr 0.8691，並以高參數效率在跨資料集上展現強泛化力。</a:t>
            </a: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結論有三大貢獻：一是提出以情感顯著詞元驅動跨模態融合的新範式，讓跨模態注意力聚焦在與情感極性最相關的語意單元；二是設計適用於序數情感標籤的多工損失與零洩漏推斷流程，兼顧分類與回歸且避免測試時資訊洩漏；三是系統性驗證方法可遷移到多語言、多任務情感分析場景。SACF 在 CMU-MOSI 達 Acc-7 53.06%、MAE 0.5840、Corr 0.8691，並以高參數效率在跨資料集上展現強泛化力。</a:t>
            </a: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結論有三大貢獻：一是提出以情感顯著詞元驅動跨模態融合的新範式，讓跨模態注意力聚焦在與情感極性最相關的語意單元；二是設計適用於序數情感標籤的多工損失與零洩漏推斷流程，兼顧分類與回歸且避免測試時資訊洩漏；三是系統性驗證方法可遷移到多語言、多任務情感分析場景。SACF 在 CMU-MOSI 達 Acc-7 53.06%、MAE 0.5840、Corr 0.8691，並以高參數效率在跨資料集上展現強泛化力。</a:t>
            </a: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結論有三大貢獻：一是提出以情感顯著詞元驅動跨模態融合的新範式，讓跨模態注意力聚焦在與情感極性最相關的語意單元；二是設計適用於序數情感標籤的多工損失與零洩漏推斷流程，兼顧分類與回歸且避免測試時資訊洩漏；三是系統性驗證方法可遷移到多語言、多任務情感分析場景。SACF 在 CMU-MOSI 達 Acc-7 53.06%、MAE 0.5840、Corr 0.8691，並以高參數效率在跨資料集上展現強泛化力。</a:t>
            </a: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結論有三大貢獻：一是提出以情感顯著詞元驅動跨模態融合的新範式，讓跨模態注意力聚焦在與情感極性最相關的語意單元；二是設計適用於序數情感標籤的多工損失與零洩漏推斷流程，兼顧分類與回歸且避免測試時資訊洩漏；三是系統性驗證方法可遷移到多語言、多任務情感分析場景。SACF 在 CMU-MOSI 達 Acc-7 53.06%、MAE 0.5840、Corr 0.8691，並以高參數效率在跨資料集上展現強泛化力。</a:t>
            </a: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結論有三大貢獻：一是提出以情感顯著詞元驅動跨模態融合的新範式，讓跨模態注意力聚焦在與情感極性最相關的語意單元；二是設計適用於序數情感標籤的多工損失與零洩漏推斷流程，兼顧分類與回歸且避免測試時資訊洩漏；三是系統性驗證方法可遷移到多語言、多任務情感分析場景。SACF 在 CMU-MOSI 達 Acc-7 53.06%、MAE 0.5840、Corr 0.8691，並以高參數效率在跨資料集上展現強泛化力。</a:t>
            </a: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結論有三大貢獻：一是提出以情感顯著詞元驅動跨模態融合的新範式，讓跨模態注意力聚焦在與情感極性最相關的語意單元；二是設計適用於序數情感標籤的多工損失與零洩漏推斷流程，兼顧分類與回歸且避免測試時資訊洩漏；三是系統性驗證方法可遷移到多語言、多任務情感分析場景。SACF 在 CMU-MOSI 達 Acc-7 53.06%、MAE 0.5840、Corr 0.8691，並以高參數效率在跨資料集上展現強泛化力。</a:t>
            </a: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系統實際部署了 9 個具獨特人格、職業與生活背景的 AI 居民，分布在含住宅、商業（咖啡廳、藥店、酒吧）與公共空間（公園、學校）的虛擬村莊；智能體以瓦片地圖與廣度優先搜尋自主導航，前端遊戲引擎即時呈現移動與行為。視覺化工具提供居民關係圖、對話長度矩陣與情感狀態追蹤；模擬充分運行後，智能問卷系統會利用智能體累積的情緒記憶自動填寫問卷，支援 CSV/JSON/Excel 多格式匯出。</a:t>
            </a: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系統實際部署了 9 個具獨特人格、職業與生活背景的 AI 居民，分布在含住宅、商業（咖啡廳、藥店、酒吧）與公共空間（公園、學校）的虛擬村莊；智能體以瓦片地圖與廣度優先搜尋自主導航，前端遊戲引擎即時呈現移動與行為。視覺化工具提供居民關係圖、對話長度矩陣與情感狀態追蹤；模擬充分運行後，智能問卷系統會利用智能體累積的情緒記憶自動填寫問卷，支援 CSV/JSON/Excel 多格式匯出。</a:t>
            </a: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系統實際部署了 9 個具獨特人格、職業與生活背景的 AI 居民，分布在含住宅、商業（咖啡廳、藥店、酒吧）與公共空間（公園、學校）的虛擬村莊；智能體以瓦片地圖與廣度優先搜尋自主導航，前端遊戲引擎即時呈現移動與行為。視覺化工具提供居民關係圖、對話長度矩陣與情感狀態追蹤；模擬充分運行後，智能問卷系統會利用智能體累積的情緒記憶自動填寫問卷，支援 CSV/JSON/Excel 多格式匯出。</a:t>
            </a: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系統實際部署了 9 個具獨特人格、職業與生活背景的 AI 居民，分布在含住宅、商業（咖啡廳、藥店、酒吧）與公共空間（公園、學校）的虛擬村莊；智能體以瓦片地圖與廣度優先搜尋自主導航，前端遊戲引擎即時呈現移動與行為。視覺化工具提供居民關係圖、對話長度矩陣與情感狀態追蹤；模擬充分運行後，智能問卷系統會利用智能體累積的情緒記憶自動填寫問卷，支援 CSV/JSON/Excel 多格式匯出。</a:t>
            </a: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第五章把 SACF 落地成系統。架構承襲 Park 等人的生成式代理框架（記憶流、反思、規劃），並做四項延伸：一是把 SACF 嵌入感知模組，讓智能體能感知他人言談與語氣中的情感；二是在認知循環中新增情緒階段，具備情緒表徵、衰減與行為調節；三是調整提示工程模板調控行為；四是全面在地化為中文語境，採用本地模型 Qwen2.5:32b 作為核心推理引擎。資料流遵循感知—思考—行動的認知循環。</a:t>
            </a: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系統實際部署了 9 個具獨特人格、職業與生活背景的 AI 居民，分布在含住宅、商業（咖啡廳、藥店、酒吧）與公共空間（公園、學校）的虛擬村莊；智能體以瓦片地圖與廣度優先搜尋自主導航，前端遊戲引擎即時呈現移動與行為。視覺化工具提供居民關係圖、對話長度矩陣與情感狀態追蹤；模擬充分運行後，智能問卷系統會利用智能體累積的情緒記憶自動填寫問卷，支援 CSV/JSON/Excel 多格式匯出。</a:t>
            </a: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第五章把 SACF 落地成系統。架構承襲 Park 等人的生成式代理框架（記憶流、反思、規劃），並做四項延伸：一是把 SACF 嵌入感知模組，讓智能體能感知他人言談與語氣中的情感；二是在認知循環中新增情緒階段，具備情緒表徵、衰減與行為調節；三是調整提示工程模板調控行為；四是全面在地化為中文語境，採用本地模型 Qwen2.5:32b 作為核心推理引擎。資料流遵循感知—思考—行動的認知循環。</a:t>
            </a: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系統實際部署了 9 個具獨特人格、職業與生活背景的 AI 居民，分布在含住宅、商業（咖啡廳、藥店、酒吧）與公共空間（公園、學校）的虛擬村莊；智能體以瓦片地圖與廣度優先搜尋自主導航，前端遊戲引擎即時呈現移動與行為。視覺化工具提供居民關係圖、對話長度矩陣與情感狀態追蹤；模擬充分運行後，智能問卷系統會利用智能體累積的情緒記憶自動填寫問卷，支援 CSV/JSON/Excel 多格式匯出。</a:t>
            </a: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第五章把 SACF 落地成系統。架構承襲 Park 等人的生成式代理框架（記憶流、反思、規劃），並做四項延伸：一是把 SACF 嵌入感知模組，讓智能體能感知他人言談與語氣中的情感；二是在認知循環中新增情緒階段，具備情緒表徵、衰減與行為調節；三是調整提示工程模板調控行為；四是全面在地化為中文語境，採用本地模型 Qwen2.5:32b 作為核心推理引擎。資料流遵循感知—思考—行動的認知循環。</a:t>
            </a: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系統實際部署了 9 個具獨特人格、職業與生活背景的 AI 居民，分布在含住宅、商業（咖啡廳、藥店、酒吧）與公共空間（公園、學校）的虛擬村莊；智能體以瓦片地圖與廣度優先搜尋自主導航，前端遊戲引擎即時呈現移動與行為。視覺化工具提供居民關係圖、對話長度矩陣與情感狀態追蹤；模擬充分運行後，智能問卷系統會利用智能體累積的情緒記憶自動填寫問卷，支援 CSV/JSON/Excel 多格式匯出。</a:t>
            </a: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結論有三大貢獻：一是提出以情感顯著詞元驅動跨模態融合的新範式，讓跨模態注意力聚焦在與情感極性最相關的語意單元；二是設計適用於序數情感標籤的多工損失與零洩漏推斷流程，兼顧分類與回歸且避免測試時資訊洩漏；三是系統性驗證方法可遷移到多語言、多任務情感分析場景。SACF 在 CMU-MOSI 達 Acc-7 53.06%、MAE 0.5840、Corr 0.8691，並以高參數效率在跨資料集上展現強泛化力。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080768"/>
            <a:ext cx="12191695" cy="2399792"/>
          </a:xfrm>
          <a:prstGeom prst="rect">
            <a:avLst/>
          </a:prstGeom>
          <a:solidFill>
            <a:srgbClr val="1B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2113978"/>
            <a:ext cx="12191695" cy="5080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4443984"/>
            <a:ext cx="12191695" cy="5080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63727" y="775112"/>
            <a:ext cx="11064240" cy="35907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2000" b="1" dirty="0" err="1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淡江大學</a:t>
            </a:r>
            <a:r>
              <a:rPr sz="2000" b="1" dirty="0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  </a:t>
            </a:r>
            <a:r>
              <a:rPr sz="2000" b="1" dirty="0" err="1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統計與資料科學碩士班</a:t>
            </a:r>
            <a:r>
              <a:rPr sz="2000" b="1" dirty="0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  </a:t>
            </a:r>
            <a:r>
              <a:rPr sz="2000" b="1" dirty="0" err="1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碩士論文</a:t>
            </a:r>
            <a:endParaRPr sz="2000" b="1" dirty="0">
              <a:solidFill>
                <a:srgbClr val="E09F3E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2395728"/>
            <a:ext cx="11064240" cy="13716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900" b="1" dirty="0" err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SACF：情感感知跨模態融合框架與極性增強注意力</a:t>
            </a:r>
            <a:endParaRPr sz="2900" b="1" dirty="0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  <a:p>
            <a:pPr algn="ctr"/>
            <a:r>
              <a:rPr sz="2900" b="1" dirty="0" err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模型建構及多代理模擬應用研究</a:t>
            </a:r>
            <a:endParaRPr sz="2900" b="1" dirty="0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3767328"/>
            <a:ext cx="1106424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1300" b="0" dirty="0">
                <a:solidFill>
                  <a:srgbClr val="C6D3E6"/>
                </a:solidFill>
                <a:latin typeface="PingFang TC"/>
                <a:ea typeface="PingFang TC"/>
                <a:cs typeface="PingFang TC"/>
              </a:rPr>
              <a:t>A Sentiment-Aware Cross-modal Fusion Framework with Polarity-Enhanced</a:t>
            </a:r>
          </a:p>
          <a:p>
            <a:pPr algn="ctr"/>
            <a:r>
              <a:rPr sz="1300" b="0" dirty="0">
                <a:solidFill>
                  <a:srgbClr val="C6D3E6"/>
                </a:solidFill>
                <a:latin typeface="PingFang TC"/>
                <a:ea typeface="PingFang TC"/>
                <a:cs typeface="PingFang TC"/>
              </a:rPr>
              <a:t>Attention and Its Application to Multi-Agent Simulation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3727" y="5053235"/>
            <a:ext cx="11064240" cy="12801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Aft>
                <a:spcPts val="800"/>
              </a:spcAft>
            </a:pPr>
            <a:r>
              <a:rPr sz="1900" b="1" dirty="0" err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研究生：李昇峰</a:t>
            </a:r>
            <a:r>
              <a:rPr sz="1900" b="1" dirty="0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　</a:t>
            </a:r>
            <a:r>
              <a:rPr sz="1900" b="1" dirty="0" err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撰</a:t>
            </a:r>
            <a:endParaRPr sz="1900" b="1" dirty="0">
              <a:solidFill>
                <a:srgbClr val="FFFFFF"/>
              </a:solidFill>
              <a:latin typeface="PingFang TC"/>
              <a:ea typeface="PingFang TC"/>
              <a:cs typeface="PingFang TC"/>
            </a:endParaRPr>
          </a:p>
          <a:p>
            <a:pPr algn="ctr">
              <a:spcAft>
                <a:spcPts val="800"/>
              </a:spcAft>
            </a:pPr>
            <a:r>
              <a:rPr sz="1700" b="0" dirty="0" err="1">
                <a:solidFill>
                  <a:srgbClr val="D9E2F0"/>
                </a:solidFill>
                <a:latin typeface="PingFang TC"/>
                <a:ea typeface="PingFang TC"/>
                <a:cs typeface="PingFang TC"/>
              </a:rPr>
              <a:t>指導教授：高君豪</a:t>
            </a:r>
            <a:r>
              <a:rPr sz="1700" b="0" dirty="0">
                <a:solidFill>
                  <a:srgbClr val="D9E2F0"/>
                </a:solidFill>
                <a:latin typeface="PingFang TC"/>
                <a:ea typeface="PingFang TC"/>
                <a:cs typeface="PingFang TC"/>
              </a:rPr>
              <a:t>　</a:t>
            </a:r>
            <a:r>
              <a:rPr sz="1700" b="0" dirty="0" err="1">
                <a:solidFill>
                  <a:srgbClr val="D9E2F0"/>
                </a:solidFill>
                <a:latin typeface="PingFang TC"/>
                <a:ea typeface="PingFang TC"/>
                <a:cs typeface="PingFang TC"/>
              </a:rPr>
              <a:t>教授</a:t>
            </a:r>
            <a:endParaRPr sz="1700" b="0" dirty="0">
              <a:solidFill>
                <a:srgbClr val="D9E2F0"/>
              </a:solidFill>
              <a:latin typeface="PingFang TC"/>
              <a:ea typeface="PingFang TC"/>
              <a:cs typeface="PingFang TC"/>
            </a:endParaRPr>
          </a:p>
          <a:p>
            <a:pPr algn="ctr"/>
            <a:r>
              <a:rPr sz="1400" b="0" dirty="0" err="1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中華民國</a:t>
            </a:r>
            <a:r>
              <a:rPr sz="1400" b="0" dirty="0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 115 </a:t>
            </a:r>
            <a:r>
              <a:rPr sz="1400" b="0" dirty="0" err="1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年</a:t>
            </a:r>
            <a:r>
              <a:rPr sz="1400" b="0" dirty="0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 6 </a:t>
            </a:r>
            <a:r>
              <a:rPr sz="1400" b="0" dirty="0" err="1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月</a:t>
            </a:r>
            <a:endParaRPr sz="1400" b="0" dirty="0">
              <a:solidFill>
                <a:srgbClr val="E09F3E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SACF · 李昇峰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914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OUTLINE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"/>
            <a:ext cx="1133856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簡報大綱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25880"/>
            <a:ext cx="54406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325880"/>
            <a:ext cx="1005840" cy="1417320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325880"/>
            <a:ext cx="1005840" cy="1417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1527048"/>
            <a:ext cx="4114800" cy="11430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研究背景與動機</a:t>
            </a:r>
          </a:p>
          <a:p>
            <a:pPr algn="l"/>
            <a:r>
              <a:rPr sz="13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情感建模缺口 · 雙核心目標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1325880"/>
            <a:ext cx="54406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400800" y="1325880"/>
            <a:ext cx="1005840" cy="1417320"/>
          </a:xfrm>
          <a:prstGeom prst="roundRect">
            <a:avLst/>
          </a:prstGeom>
          <a:solidFill>
            <a:srgbClr val="1284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325880"/>
            <a:ext cx="1005840" cy="1417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1527048"/>
            <a:ext cx="4114800" cy="11430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文獻探討</a:t>
            </a:r>
          </a:p>
          <a:p>
            <a:pPr algn="l"/>
            <a:r>
              <a:rPr sz="13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智能體理論 · 多模態情感分析演進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017520"/>
            <a:ext cx="54406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0080" y="3017520"/>
            <a:ext cx="1005840" cy="1417320"/>
          </a:xfrm>
          <a:prstGeom prst="round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0080" y="3017520"/>
            <a:ext cx="1005840" cy="1417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3218688"/>
            <a:ext cx="4114800" cy="11430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SACF 模型方法</a:t>
            </a:r>
          </a:p>
          <a:p>
            <a:pPr algn="l"/>
            <a:r>
              <a:rPr sz="13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架構 · 損失函數 · 訓練與推斷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00800" y="3017520"/>
            <a:ext cx="54406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400800" y="3017520"/>
            <a:ext cx="1005840" cy="1417320"/>
          </a:xfrm>
          <a:prstGeom prst="roundRect">
            <a:avLst/>
          </a:prstGeom>
          <a:solidFill>
            <a:srgbClr val="D6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3017520"/>
            <a:ext cx="1005840" cy="1417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89520" y="3218688"/>
            <a:ext cx="4114800" cy="11430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實驗結果</a:t>
            </a:r>
          </a:p>
          <a:p>
            <a:pPr algn="l"/>
            <a:r>
              <a:rPr sz="13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CMU-MOSI · 跨資料集泛化 · 參數效率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" y="4709160"/>
            <a:ext cx="54406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40080" y="4709160"/>
            <a:ext cx="1005840" cy="1417320"/>
          </a:xfrm>
          <a:prstGeom prst="roundRect">
            <a:avLst/>
          </a:prstGeom>
          <a:solidFill>
            <a:srgbClr val="1284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0080" y="4709160"/>
            <a:ext cx="1005840" cy="1417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4910328"/>
            <a:ext cx="4114800" cy="11430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情緒感知多代理模擬系統</a:t>
            </a:r>
          </a:p>
          <a:p>
            <a:pPr algn="l"/>
            <a:r>
              <a:rPr sz="13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認知循環 · 情緒子系統 · 系統展示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4709160"/>
            <a:ext cx="5440680" cy="14173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400800" y="4709160"/>
            <a:ext cx="1005840" cy="1417320"/>
          </a:xfrm>
          <a:prstGeom prst="round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00800" y="4709160"/>
            <a:ext cx="1005840" cy="14173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4910328"/>
            <a:ext cx="4114800" cy="11430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900" b="1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結論與貢獻</a:t>
            </a:r>
          </a:p>
          <a:p>
            <a:pPr algn="l"/>
            <a:r>
              <a:rPr sz="13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研究成果 · 三大貢獻 · 未來展望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SACF · 李昇峰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914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06470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0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0"/>
            <a:ext cx="3291840" cy="1828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CHAPTER</a:t>
            </a:r>
          </a:p>
          <a:p>
            <a:pPr algn="l"/>
            <a:r>
              <a:rPr sz="110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17720" y="2331720"/>
            <a:ext cx="7040880" cy="1097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研究背景與動機</a:t>
            </a:r>
          </a:p>
          <a:p>
            <a:pPr algn="l"/>
            <a:r>
              <a:rPr sz="1600" b="0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Background &amp; Motivation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3794760"/>
            <a:ext cx="704088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▸ </a:t>
            </a:r>
            <a:r>
              <a:rPr sz="1600" b="0">
                <a:solidFill>
                  <a:srgbClr val="D9E2F0"/>
                </a:solidFill>
                <a:latin typeface="PingFang TC"/>
                <a:ea typeface="PingFang TC"/>
                <a:cs typeface="PingFang TC"/>
              </a:rPr>
              <a:t>生成式代理的情感建模缺口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4251960"/>
            <a:ext cx="704088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▸ </a:t>
            </a:r>
            <a:r>
              <a:rPr sz="1600" b="0">
                <a:solidFill>
                  <a:srgbClr val="D9E2F0"/>
                </a:solidFill>
                <a:latin typeface="PingFang TC"/>
                <a:ea typeface="PingFang TC"/>
                <a:cs typeface="PingFang TC"/>
              </a:rPr>
              <a:t>雙核心研究目標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4709160"/>
            <a:ext cx="704088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▸ </a:t>
            </a:r>
            <a:r>
              <a:rPr sz="1600" b="0">
                <a:solidFill>
                  <a:srgbClr val="D9E2F0"/>
                </a:solidFill>
                <a:latin typeface="PingFang TC"/>
                <a:ea typeface="PingFang TC"/>
                <a:cs typeface="PingFang TC"/>
              </a:rPr>
              <a:t>研究貢獻概覽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SACF · 李昇峰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914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8582026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8576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3657600" cy="251351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第一章 · 研究背景與動機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76351"/>
            <a:ext cx="11338560" cy="436017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研究背景與動機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11064240" cy="32348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TW" sz="1600" b="0" dirty="0">
                <a:solidFill>
                  <a:srgbClr val="1A2E4A"/>
                </a:solidFill>
                <a:latin typeface="PingFang TC"/>
                <a:ea typeface="PingFang TC"/>
                <a:cs typeface="PingFang TC"/>
              </a:rPr>
              <a:t>讓 AI 智能體擁有可量化的情緒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48840"/>
            <a:ext cx="2697480" cy="246888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8640" y="2148840"/>
            <a:ext cx="76200" cy="2468880"/>
          </a:xfrm>
          <a:prstGeom prst="rect">
            <a:avLst/>
          </a:prstGeom>
          <a:solidFill>
            <a:srgbClr val="D6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13232" y="2240280"/>
            <a:ext cx="2423160" cy="185685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dirty="0">
                <a:solidFill>
                  <a:srgbClr val="D63A3A"/>
                </a:solidFill>
                <a:latin typeface="PingFang TC"/>
                <a:ea typeface="PingFang TC"/>
                <a:cs typeface="PingFang TC"/>
              </a:rPr>
              <a:t>① </a:t>
            </a:r>
            <a:r>
              <a:rPr sz="1500" b="1" dirty="0" err="1">
                <a:solidFill>
                  <a:srgbClr val="D63A3A"/>
                </a:solidFill>
                <a:latin typeface="PingFang TC"/>
                <a:ea typeface="PingFang TC"/>
                <a:cs typeface="PingFang TC"/>
              </a:rPr>
              <a:t>智能體已能模擬行為，卻沒有情緒</a:t>
            </a:r>
            <a:endParaRPr sz="1500" b="1" dirty="0">
              <a:solidFill>
                <a:srgbClr val="D63A3A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 dirty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Park 等人（2023）生成式代理證明 LLM </a:t>
            </a:r>
            <a:r>
              <a:rPr sz="1250" b="0" dirty="0" err="1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能驅動具記憶、反思、規劃的虛擬智能體</a:t>
            </a:r>
            <a:endParaRPr sz="1250" b="0" dirty="0">
              <a:solidFill>
                <a:srgbClr val="222A38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 dirty="0" err="1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但智能體的決策僅靠文字語義推理，缺乏對「情緒狀態」的系統性建模</a:t>
            </a:r>
            <a:endParaRPr sz="1250" b="0" dirty="0">
              <a:solidFill>
                <a:srgbClr val="222A38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3410712" y="2148840"/>
            <a:ext cx="2697480" cy="246888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10712" y="2148840"/>
            <a:ext cx="76200" cy="246888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75304" y="2240280"/>
            <a:ext cx="2423160" cy="2103076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 dirty="0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② </a:t>
            </a:r>
            <a:r>
              <a:rPr sz="1500" b="1" dirty="0" err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情緒，是智能體社交真實性的核心缺口</a:t>
            </a:r>
            <a:endParaRPr sz="1500" b="1" dirty="0">
              <a:solidFill>
                <a:srgbClr val="1F6FB2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 dirty="0" err="1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心理學指出情緒直接影響溝通風格、社交距離與決策傾向</a:t>
            </a:r>
            <a:endParaRPr sz="1250" b="0" dirty="0">
              <a:solidFill>
                <a:srgbClr val="222A38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 dirty="0" err="1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智能體若無動態情緒回應，互動只是機械化的文字交換，無法反映真實人類社會</a:t>
            </a:r>
            <a:endParaRPr sz="1250" b="0" dirty="0">
              <a:solidFill>
                <a:srgbClr val="222A38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 dirty="0" err="1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現有系統缺乏情緒的「量化表示」與「動態更新」機制</a:t>
            </a:r>
            <a:endParaRPr sz="1250" b="0" dirty="0">
              <a:solidFill>
                <a:srgbClr val="222A38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272784" y="2148840"/>
            <a:ext cx="2697480" cy="246888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272784" y="2148840"/>
            <a:ext cx="76200" cy="2468880"/>
          </a:xfrm>
          <a:prstGeom prst="rect">
            <a:avLst/>
          </a:prstGeom>
          <a:solidFill>
            <a:srgbClr val="1284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37376" y="2240280"/>
            <a:ext cx="2423160" cy="2518575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2848D"/>
                </a:solidFill>
                <a:latin typeface="PingFang TC"/>
                <a:ea typeface="PingFang TC"/>
                <a:cs typeface="PingFang TC"/>
              </a:rPr>
              <a:t>③ 讓機器人情緒可被量化、可被驅動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提出 SACF 情感感知跨模態融合框架，輸出七點量表情感強度分數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以情緒強度分數動態調整智能體的對話風格、互動意願與行為規劃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使社交互動呈現可量化的情緒演化軌跡（如情緒感染、情緒支持）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34856" y="2148840"/>
            <a:ext cx="2697480" cy="246888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134856" y="2148840"/>
            <a:ext cx="76200" cy="246888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99448" y="2240280"/>
            <a:ext cx="2423160" cy="141827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④ 應用價值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建構 9 位具差異化人格的情緒感知 AI 居民虛擬社區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情緒記憶可支撐智能問卷調查，作為社會科學的新型資料蒐集範式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937760"/>
            <a:ext cx="11064240" cy="825803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62A4D"/>
                </a:solidFill>
                <a:latin typeface="PingFang TC"/>
                <a:ea typeface="PingFang TC"/>
                <a:cs typeface="PingFang TC"/>
              </a:rPr>
              <a:t>研究核心主張</a:t>
            </a:r>
          </a:p>
          <a:p>
            <a:pPr algn="l">
              <a:lnSpc>
                <a:spcPct val="115000"/>
              </a:lnSpc>
            </a:pPr>
            <a:r>
              <a:rPr sz="15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本研究提出 SACF 框架，將智能體情緒量化為七點量表強度分數，動態驅動對話風格與行為規劃，讓社交互動呈現可量化的情緒演化軌跡。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SACF · 李昇峰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914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573688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第一章 · 研究目的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"/>
            <a:ext cx="1133856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雙核心目標：情緒感知模擬 × 智能問卷調查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188720"/>
            <a:ext cx="5486400" cy="548640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188720"/>
            <a:ext cx="548640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目標 A｜建構 SACF 情感評分模型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188720"/>
            <a:ext cx="5486400" cy="548640"/>
          </a:xfrm>
          <a:prstGeom prst="roundRect">
            <a:avLst/>
          </a:prstGeom>
          <a:solidFill>
            <a:srgbClr val="1284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63640" y="1188720"/>
            <a:ext cx="5486400" cy="5486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目標 B｜情緒感知多代理模擬系統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874519"/>
            <a:ext cx="5394960" cy="4114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5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以 CMU-MOSI 為基礎開發跨模態融合框架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12848D"/>
                </a:solidFill>
                <a:latin typeface="PingFang TC"/>
                <a:ea typeface="PingFang TC"/>
                <a:cs typeface="PingFang TC"/>
              </a:rPr>
              <a:t>    – </a:t>
            </a:r>
            <a:r>
              <a:rPr sz="14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整合 DeBERTa-v3-large + BiLSTM 編碼器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12848D"/>
                </a:solidFill>
                <a:latin typeface="PingFang TC"/>
                <a:ea typeface="PingFang TC"/>
                <a:cs typeface="PingFang TC"/>
              </a:rPr>
              <a:t>    – </a:t>
            </a:r>
            <a:r>
              <a:rPr sz="14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PEA 極性增強注意力 + 情感感知融合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12848D"/>
                </a:solidFill>
                <a:latin typeface="PingFang TC"/>
                <a:ea typeface="PingFang TC"/>
                <a:cs typeface="PingFang TC"/>
              </a:rPr>
              <a:t>    – </a:t>
            </a:r>
            <a:r>
              <a:rPr sz="14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多工損失 + 兩階段訓練 + 參數空間集成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500" b="1">
                <a:solidFill>
                  <a:srgbClr val="D63A3A"/>
                </a:solidFill>
                <a:latin typeface="PingFang TC"/>
                <a:ea typeface="PingFang TC"/>
                <a:cs typeface="PingFang TC"/>
              </a:rPr>
              <a:t>七分類情感強度 Acc-7 達 53.06%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5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情緒驅動的智能體互動機制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12848D"/>
                </a:solidFill>
                <a:latin typeface="PingFang TC"/>
                <a:ea typeface="PingFang TC"/>
                <a:cs typeface="PingFang TC"/>
              </a:rPr>
              <a:t>    – </a:t>
            </a:r>
            <a:r>
              <a:rPr sz="14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以情感分數動態調整對話與行為規劃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74519"/>
            <a:ext cx="5394960" cy="4114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5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9 位 AI 居民人格塑造與情感建模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12848D"/>
                </a:solidFill>
                <a:latin typeface="PingFang TC"/>
                <a:ea typeface="PingFang TC"/>
                <a:cs typeface="PingFang TC"/>
              </a:rPr>
              <a:t>    – </a:t>
            </a:r>
            <a:r>
              <a:rPr sz="14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七類情緒狀態轉換機制（正/負向）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5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三維記憶管理（時效/重要/相關）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12848D"/>
                </a:solidFill>
                <a:latin typeface="PingFang TC"/>
                <a:ea typeface="PingFang TC"/>
                <a:cs typeface="PingFang TC"/>
              </a:rPr>
              <a:t>    – </a:t>
            </a:r>
            <a:r>
              <a:rPr sz="14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衰減因子 0.995 · LLM 1–10 分重要性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5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虛擬環境與社交網絡視覺化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5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智能問卷系統（單選/多選/評分/文字）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12848D"/>
                </a:solidFill>
                <a:latin typeface="PingFang TC"/>
                <a:ea typeface="PingFang TC"/>
                <a:cs typeface="PingFang TC"/>
              </a:rPr>
              <a:t>    – </a:t>
            </a:r>
            <a:r>
              <a:rPr sz="14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多格式匯出 CSV / JSON / Excel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SACF · 李昇峰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914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3304622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0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0"/>
            <a:ext cx="3291840" cy="1828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CHAPTER</a:t>
            </a:r>
          </a:p>
          <a:p>
            <a:pPr algn="l"/>
            <a:r>
              <a:rPr sz="110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17720" y="2331720"/>
            <a:ext cx="7040880" cy="1097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文獻探討</a:t>
            </a:r>
          </a:p>
          <a:p>
            <a:pPr algn="l"/>
            <a:r>
              <a:rPr sz="1600" b="0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Literature Review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3794760"/>
            <a:ext cx="704088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▸ </a:t>
            </a:r>
            <a:r>
              <a:rPr sz="1600" b="0">
                <a:solidFill>
                  <a:srgbClr val="D9E2F0"/>
                </a:solidFill>
                <a:latin typeface="PingFang TC"/>
                <a:ea typeface="PingFang TC"/>
                <a:cs typeface="PingFang TC"/>
              </a:rPr>
              <a:t>智能體理論基礎演進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4251960"/>
            <a:ext cx="704088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▸ </a:t>
            </a:r>
            <a:r>
              <a:rPr sz="1600" b="0">
                <a:solidFill>
                  <a:srgbClr val="D9E2F0"/>
                </a:solidFill>
                <a:latin typeface="PingFang TC"/>
                <a:ea typeface="PingFang TC"/>
                <a:cs typeface="PingFang TC"/>
              </a:rPr>
              <a:t>多模態情感分析三條方法論路線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4709160"/>
            <a:ext cx="704088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▸ </a:t>
            </a:r>
            <a:r>
              <a:rPr sz="1600" b="0">
                <a:solidFill>
                  <a:srgbClr val="D9E2F0"/>
                </a:solidFill>
                <a:latin typeface="PingFang TC"/>
                <a:ea typeface="PingFang TC"/>
                <a:cs typeface="PingFang TC"/>
              </a:rPr>
              <a:t>與最強基線 MGT 的差異化設計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SACF · 李昇峰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914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3795811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10" name="H"/>
          <p:cNvSpPr/>
          <p:nvPr/>
        </p:nvSpPr>
        <p:spPr>
          <a:xfrm>
            <a:off x="0" y="0"/>
            <a:ext cx="12192000" cy="1270000"/>
          </a:xfrm>
          <a:prstGeom prst="rect">
            <a:avLst/>
          </a:prstGeom>
          <a:solidFill>
            <a:srgbClr val="162A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AL"/>
          <p:cNvSpPr/>
          <p:nvPr/>
        </p:nvSpPr>
        <p:spPr>
          <a:xfrm>
            <a:off x="0" y="660000"/>
            <a:ext cx="12192000" cy="38100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SL"/>
          <p:cNvSpPr txBox="1"/>
          <p:nvPr/>
        </p:nvSpPr>
        <p:spPr>
          <a:xfrm>
            <a:off x="381000" y="88900"/>
            <a:ext cx="5000000" cy="2286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zh-TW" sz="1300" b="1" dirty="0">
                <a:solidFill>
                  <a:srgbClr val="E09F3E"/>
                </a:solidFill>
                <a:latin typeface="PingFang TC"/>
                <a:ea typeface="PingFang TC"/>
              </a:rPr>
              <a:t>第二章 · 文獻探討</a:t>
            </a:r>
          </a:p>
        </p:txBody>
      </p:sp>
      <p:sp>
        <p:nvSpPr>
          <p:cNvPr id="13" name="TT"/>
          <p:cNvSpPr txBox="1"/>
          <p:nvPr/>
        </p:nvSpPr>
        <p:spPr>
          <a:xfrm>
            <a:off x="381000" y="330200"/>
            <a:ext cx="11430000" cy="5079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zh-TW" sz="2800" b="1" dirty="0">
                <a:solidFill>
                  <a:srgbClr val="FFFFFF"/>
                </a:solidFill>
                <a:latin typeface="PingFang TC"/>
                <a:ea typeface="PingFang TC"/>
              </a:rPr>
              <a:t>第二章 文獻探討｜研究脈絡總覽</a:t>
            </a:r>
          </a:p>
        </p:txBody>
      </p:sp>
      <p:sp>
        <p:nvSpPr>
          <p:cNvPr id="14" name="Sub"/>
          <p:cNvSpPr txBox="1"/>
          <p:nvPr/>
        </p:nvSpPr>
        <p:spPr>
          <a:xfrm>
            <a:off x="381000" y="876300"/>
            <a:ext cx="11430000" cy="330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zh-TW" sz="1500" b="0" dirty="0">
                <a:solidFill>
                  <a:srgbClr val="B8C5D4"/>
                </a:solidFill>
                <a:latin typeface="PingFang TC"/>
                <a:ea typeface="PingFang TC"/>
              </a:rPr>
              <a:t>從智能體理論到情感量化，定位本研究座標</a:t>
            </a:r>
          </a:p>
        </p:txBody>
      </p:sp>
      <p:sp>
        <p:nvSpPr>
          <p:cNvPr id="20" name="CB0"/>
          <p:cNvSpPr/>
          <p:nvPr/>
        </p:nvSpPr>
        <p:spPr>
          <a:xfrm>
            <a:off x="381000" y="1524000"/>
            <a:ext cx="3674533" cy="2921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CBar0"/>
          <p:cNvSpPr/>
          <p:nvPr/>
        </p:nvSpPr>
        <p:spPr>
          <a:xfrm>
            <a:off x="381000" y="1524000"/>
            <a:ext cx="101600" cy="2921000"/>
          </a:xfrm>
          <a:prstGeom prst="rect">
            <a:avLst/>
          </a:prstGeom>
          <a:solidFill>
            <a:srgbClr val="D63A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CT0"/>
          <p:cNvSpPr txBox="1"/>
          <p:nvPr/>
        </p:nvSpPr>
        <p:spPr>
          <a:xfrm>
            <a:off x="609600" y="1676400"/>
            <a:ext cx="3382433" cy="2616200"/>
          </a:xfrm>
          <a:prstGeom prst="rect">
            <a:avLst/>
          </a:prstGeom>
          <a:noFill/>
        </p:spPr>
        <p:txBody>
          <a:bodyPr wrap="square" lIns="120650" tIns="91440" rIns="120650" bIns="91440" rtlCol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zh-TW" sz="1800" b="1" dirty="0">
                <a:solidFill>
                  <a:srgbClr val="D63A3A"/>
                </a:solidFill>
                <a:latin typeface="PingFang TC"/>
                <a:ea typeface="PingFang TC"/>
              </a:rPr>
              <a:t>① 理論基礎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zh-TW" sz="1500" b="0" dirty="0">
                <a:solidFill>
                  <a:srgbClr val="2C3E50"/>
                </a:solidFill>
                <a:latin typeface="PingFang TC"/>
                <a:ea typeface="PingFang TC"/>
              </a:rPr>
              <a:t>• 智能體：感知→推理→行動的認知循環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zh-TW" sz="1500" b="0" dirty="0">
                <a:solidFill>
                  <a:srgbClr val="2C3E50"/>
                </a:solidFill>
                <a:latin typeface="PingFang TC"/>
                <a:ea typeface="PingFang TC"/>
              </a:rPr>
              <a:t>• 情感智能體：擴展為認知-行為-情感三元模型</a:t>
            </a:r>
          </a:p>
        </p:txBody>
      </p:sp>
      <p:sp>
        <p:nvSpPr>
          <p:cNvPr id="23" name="CB1"/>
          <p:cNvSpPr/>
          <p:nvPr/>
        </p:nvSpPr>
        <p:spPr>
          <a:xfrm>
            <a:off x="4258733" y="1524000"/>
            <a:ext cx="3674533" cy="2921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CBar1"/>
          <p:cNvSpPr/>
          <p:nvPr/>
        </p:nvSpPr>
        <p:spPr>
          <a:xfrm>
            <a:off x="4258733" y="1524000"/>
            <a:ext cx="101600" cy="2921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CT1"/>
          <p:cNvSpPr txBox="1"/>
          <p:nvPr/>
        </p:nvSpPr>
        <p:spPr>
          <a:xfrm>
            <a:off x="4487333" y="1676400"/>
            <a:ext cx="3382433" cy="2616200"/>
          </a:xfrm>
          <a:prstGeom prst="rect">
            <a:avLst/>
          </a:prstGeom>
          <a:noFill/>
        </p:spPr>
        <p:txBody>
          <a:bodyPr wrap="square" lIns="120650" tIns="91440" rIns="120650" bIns="91440" rtlCol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zh-TW" sz="1800" b="1" dirty="0">
                <a:solidFill>
                  <a:srgbClr val="1F6FB2"/>
                </a:solidFill>
                <a:latin typeface="PingFang TC"/>
                <a:ea typeface="PingFang TC"/>
              </a:rPr>
              <a:t>② 技術線索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zh-TW" sz="1500" b="0" dirty="0">
                <a:solidFill>
                  <a:srgbClr val="2C3E50"/>
                </a:solidFill>
                <a:latin typeface="PingFang TC"/>
                <a:ea typeface="PingFang TC"/>
              </a:rPr>
              <a:t>• 情感計算與多模態情感分析（MSA）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zh-TW" sz="1500" b="0" dirty="0">
                <a:solidFill>
                  <a:srgbClr val="2C3E50"/>
                </a:solidFill>
                <a:latin typeface="PingFang TC"/>
                <a:ea typeface="PingFang TC"/>
              </a:rPr>
              <a:t>• 預訓練語言模型主導的跨模態融合</a:t>
            </a:r>
          </a:p>
        </p:txBody>
      </p:sp>
      <p:sp>
        <p:nvSpPr>
          <p:cNvPr id="26" name="CB2"/>
          <p:cNvSpPr/>
          <p:nvPr/>
        </p:nvSpPr>
        <p:spPr>
          <a:xfrm>
            <a:off x="8136466" y="1524000"/>
            <a:ext cx="3674533" cy="2921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CBar2"/>
          <p:cNvSpPr/>
          <p:nvPr/>
        </p:nvSpPr>
        <p:spPr>
          <a:xfrm>
            <a:off x="8136466" y="1524000"/>
            <a:ext cx="101600" cy="2921000"/>
          </a:xfrm>
          <a:prstGeom prst="rect">
            <a:avLst/>
          </a:prstGeom>
          <a:solidFill>
            <a:srgbClr val="12848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CT2"/>
          <p:cNvSpPr txBox="1"/>
          <p:nvPr/>
        </p:nvSpPr>
        <p:spPr>
          <a:xfrm>
            <a:off x="8365066" y="1676400"/>
            <a:ext cx="3382433" cy="2616200"/>
          </a:xfrm>
          <a:prstGeom prst="rect">
            <a:avLst/>
          </a:prstGeom>
          <a:noFill/>
        </p:spPr>
        <p:txBody>
          <a:bodyPr wrap="square" lIns="120650" tIns="91440" rIns="120650" bIns="91440" rtlCol="0" anchor="t"/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zh-TW" sz="1800" b="1" dirty="0">
                <a:solidFill>
                  <a:srgbClr val="12848D"/>
                </a:solidFill>
                <a:latin typeface="PingFang TC"/>
                <a:ea typeface="PingFang TC"/>
              </a:rPr>
              <a:t>③ 應用載體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zh-TW" sz="1500" b="0" dirty="0">
                <a:solidFill>
                  <a:srgbClr val="2C3E50"/>
                </a:solidFill>
                <a:latin typeface="PingFang TC"/>
                <a:ea typeface="PingFang TC"/>
              </a:rPr>
              <a:t>• LLM 驅動的生成式代理與多智能體模擬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zh-TW" sz="1500" b="0" dirty="0">
                <a:solidFill>
                  <a:srgbClr val="2C3E50"/>
                </a:solidFill>
                <a:latin typeface="PingFang TC"/>
                <a:ea typeface="PingFang TC"/>
              </a:rPr>
              <a:t>• 本研究缺口：情感僅靠文字推理，缺乏量化驅動</a:t>
            </a:r>
          </a:p>
        </p:txBody>
      </p:sp>
      <p:sp>
        <p:nvSpPr>
          <p:cNvPr id="52" name="TkTxt"/>
          <p:cNvSpPr txBox="1"/>
          <p:nvPr/>
        </p:nvSpPr>
        <p:spPr>
          <a:xfrm>
            <a:off x="203200" y="4724400"/>
            <a:ext cx="11887200" cy="1905000"/>
          </a:xfrm>
          <a:prstGeom prst="rect">
            <a:avLst/>
          </a:prstGeom>
          <a:noFill/>
        </p:spPr>
        <p:txBody>
          <a:bodyPr wrap="square" rtlCol="0" anchor="t"/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lang="zh-TW" sz="1300" b="1" dirty="0">
                <a:solidFill>
                  <a:srgbClr val="E09F3E"/>
                </a:solidFill>
                <a:latin typeface="PingFang TC"/>
                <a:ea typeface="PingFang TC"/>
              </a:rPr>
              <a:t>▶ 核心問題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lang="zh-TW" sz="1800" b="1" dirty="0">
                <a:solidFill>
                  <a:srgbClr val="FFFFFF"/>
                </a:solidFill>
                <a:latin typeface="PingFang TC"/>
                <a:ea typeface="PingFang TC"/>
              </a:rPr>
              <a:t>現有生成式代理的情感狀態缺乏量化強度，無法形成數值驅動的認知回饋</a:t>
            </a:r>
          </a:p>
          <a:p>
            <a:pPr algn="l">
              <a:spcBef>
                <a:spcPts val="0"/>
              </a:spcBef>
            </a:pPr>
            <a:r>
              <a:rPr lang="zh-TW" sz="1500" b="0" dirty="0">
                <a:solidFill>
                  <a:srgbClr val="8BA8C8"/>
                </a:solidFill>
                <a:latin typeface="PingFang TC"/>
                <a:ea typeface="PingFang TC"/>
              </a:rPr>
              <a:t>→ 本研究三條文獻脈絡（智能體理論・情感計算・LLM應用）共同指向此缺口，SACF 作為解法提案</a:t>
            </a:r>
          </a:p>
        </p:txBody>
      </p:sp>
    </p:spTree>
    <p:extLst>
      <p:ext uri="{BB962C8B-B14F-4D97-AF65-F5344CB8AC3E}">
        <p14:creationId xmlns:p14="http://schemas.microsoft.com/office/powerpoint/2010/main" val="35898692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"/>
          <p:cNvSpPr/>
          <p:nvPr/>
        </p:nvSpPr>
        <p:spPr>
          <a:xfrm>
            <a:off x="0" y="0"/>
            <a:ext cx="12192000" cy="1270000"/>
          </a:xfrm>
          <a:prstGeom prst="rect">
            <a:avLst/>
          </a:prstGeom>
          <a:solidFill>
            <a:srgbClr val="162A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AL"/>
          <p:cNvSpPr/>
          <p:nvPr/>
        </p:nvSpPr>
        <p:spPr>
          <a:xfrm>
            <a:off x="0" y="660000"/>
            <a:ext cx="12192000" cy="38100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SL"/>
          <p:cNvSpPr txBox="1"/>
          <p:nvPr/>
        </p:nvSpPr>
        <p:spPr>
          <a:xfrm>
            <a:off x="381000" y="88900"/>
            <a:ext cx="5000000" cy="2286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zh-TW" sz="1300" b="1" dirty="0">
                <a:solidFill>
                  <a:srgbClr val="E09F3E"/>
                </a:solidFill>
                <a:latin typeface="PingFang TC"/>
                <a:ea typeface="PingFang TC"/>
              </a:rPr>
              <a:t>第二章 · 文獻探討</a:t>
            </a:r>
          </a:p>
        </p:txBody>
      </p:sp>
      <p:sp>
        <p:nvSpPr>
          <p:cNvPr id="13" name="TT"/>
          <p:cNvSpPr txBox="1"/>
          <p:nvPr/>
        </p:nvSpPr>
        <p:spPr>
          <a:xfrm>
            <a:off x="381000" y="330200"/>
            <a:ext cx="11430000" cy="5079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zh-TW" sz="2800" b="1" dirty="0">
                <a:solidFill>
                  <a:srgbClr val="FFFFFF"/>
                </a:solidFill>
                <a:latin typeface="PingFang TC"/>
                <a:ea typeface="PingFang TC"/>
              </a:rPr>
              <a:t>智能體理論基礎</a:t>
            </a:r>
          </a:p>
        </p:txBody>
      </p:sp>
      <p:sp>
        <p:nvSpPr>
          <p:cNvPr id="14" name="Sub"/>
          <p:cNvSpPr txBox="1"/>
          <p:nvPr/>
        </p:nvSpPr>
        <p:spPr>
          <a:xfrm>
            <a:off x="381000" y="876300"/>
            <a:ext cx="11430000" cy="330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zh-TW" sz="1500" b="0" dirty="0">
                <a:solidFill>
                  <a:srgbClr val="B8C5D4"/>
                </a:solidFill>
                <a:latin typeface="PingFang TC"/>
                <a:ea typeface="PingFang TC"/>
              </a:rPr>
              <a:t>認知-行為到情感三元模型</a:t>
            </a:r>
          </a:p>
        </p:txBody>
      </p:sp>
      <p:sp>
        <p:nvSpPr>
          <p:cNvPr id="20" name="CB0"/>
          <p:cNvSpPr/>
          <p:nvPr/>
        </p:nvSpPr>
        <p:spPr>
          <a:xfrm>
            <a:off x="381000" y="1524000"/>
            <a:ext cx="3674533" cy="2921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CBar0"/>
          <p:cNvSpPr/>
          <p:nvPr/>
        </p:nvSpPr>
        <p:spPr>
          <a:xfrm>
            <a:off x="381000" y="1524000"/>
            <a:ext cx="101600" cy="2921000"/>
          </a:xfrm>
          <a:prstGeom prst="rect">
            <a:avLst/>
          </a:prstGeom>
          <a:solidFill>
            <a:srgbClr val="D63A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CT0"/>
          <p:cNvSpPr txBox="1"/>
          <p:nvPr/>
        </p:nvSpPr>
        <p:spPr>
          <a:xfrm>
            <a:off x="609600" y="1676400"/>
            <a:ext cx="3382433" cy="2616200"/>
          </a:xfrm>
          <a:prstGeom prst="rect">
            <a:avLst/>
          </a:prstGeom>
          <a:noFill/>
        </p:spPr>
        <p:txBody>
          <a:bodyPr wrap="square" lIns="120650" tIns="91440" rIns="120650" bIns="91440" rtlCol="0" anchor="t"/>
          <a:lstStyle/>
          <a:p>
            <a:pPr algn="l">
              <a:spcAft>
                <a:spcPts val="600"/>
              </a:spcAft>
            </a:pPr>
            <a:r>
              <a:rPr lang="zh-TW" sz="1800" b="1" dirty="0">
                <a:solidFill>
                  <a:srgbClr val="D63A3A"/>
                </a:solidFill>
                <a:latin typeface="PingFang TC"/>
                <a:ea typeface="PingFang TC"/>
              </a:rPr>
              <a:t>① 理性智能體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zh-TW" sz="1500" b="0" dirty="0">
                <a:solidFill>
                  <a:srgbClr val="2C3E50"/>
                </a:solidFill>
                <a:latin typeface="PingFang TC"/>
                <a:ea typeface="PingFang TC"/>
              </a:rPr>
              <a:t>• Russell &amp; Norvig：感知、推理、行動最大化期望效用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zh-TW" sz="1500" b="0" dirty="0">
                <a:solidFill>
                  <a:srgbClr val="2C3E50"/>
                </a:solidFill>
                <a:latin typeface="PingFang TC"/>
                <a:ea typeface="PingFang TC"/>
              </a:rPr>
              <a:t>• 純認知-行為模型忽略情感對決策的滲透</a:t>
            </a:r>
          </a:p>
        </p:txBody>
      </p:sp>
      <p:sp>
        <p:nvSpPr>
          <p:cNvPr id="23" name="CB1"/>
          <p:cNvSpPr/>
          <p:nvPr/>
        </p:nvSpPr>
        <p:spPr>
          <a:xfrm>
            <a:off x="4258733" y="1524000"/>
            <a:ext cx="3674533" cy="2921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CBar1"/>
          <p:cNvSpPr/>
          <p:nvPr/>
        </p:nvSpPr>
        <p:spPr>
          <a:xfrm>
            <a:off x="4258733" y="1524000"/>
            <a:ext cx="101600" cy="2921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CT1"/>
          <p:cNvSpPr txBox="1"/>
          <p:nvPr/>
        </p:nvSpPr>
        <p:spPr>
          <a:xfrm>
            <a:off x="4487333" y="1676400"/>
            <a:ext cx="3382433" cy="2616200"/>
          </a:xfrm>
          <a:prstGeom prst="rect">
            <a:avLst/>
          </a:prstGeom>
          <a:noFill/>
        </p:spPr>
        <p:txBody>
          <a:bodyPr wrap="square" lIns="120650" tIns="91440" rIns="120650" bIns="91440" rtlCol="0" anchor="t"/>
          <a:lstStyle/>
          <a:p>
            <a:pPr algn="l">
              <a:spcAft>
                <a:spcPts val="600"/>
              </a:spcAft>
            </a:pPr>
            <a:r>
              <a:rPr lang="zh-TW" sz="1800" b="1" dirty="0">
                <a:solidFill>
                  <a:srgbClr val="1F6FB2"/>
                </a:solidFill>
                <a:latin typeface="PingFang TC"/>
                <a:ea typeface="PingFang TC"/>
              </a:rPr>
              <a:t>② 具身性與社會性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zh-TW" sz="1500" b="0" dirty="0">
                <a:solidFill>
                  <a:srgbClr val="2C3E50"/>
                </a:solidFill>
                <a:latin typeface="PingFang TC"/>
                <a:ea typeface="PingFang TC"/>
              </a:rPr>
              <a:t>• Breazeal（Kismet）：表情、動作、語調的跨通道協同是人機情感連結關鍵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zh-TW" sz="1500" b="0" dirty="0">
                <a:solidFill>
                  <a:srgbClr val="2C3E50"/>
                </a:solidFill>
                <a:latin typeface="PingFang TC"/>
                <a:ea typeface="PingFang TC"/>
              </a:rPr>
              <a:t>• Rao &amp; Georgeff（BDI）：意圖修正機制對應本研究的反思後動態調整規劃</a:t>
            </a:r>
          </a:p>
        </p:txBody>
      </p:sp>
      <p:sp>
        <p:nvSpPr>
          <p:cNvPr id="26" name="CB2"/>
          <p:cNvSpPr/>
          <p:nvPr/>
        </p:nvSpPr>
        <p:spPr>
          <a:xfrm>
            <a:off x="8136466" y="1524000"/>
            <a:ext cx="3674533" cy="2921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CBar2"/>
          <p:cNvSpPr/>
          <p:nvPr/>
        </p:nvSpPr>
        <p:spPr>
          <a:xfrm>
            <a:off x="8136466" y="1524000"/>
            <a:ext cx="101600" cy="2921000"/>
          </a:xfrm>
          <a:prstGeom prst="rect">
            <a:avLst/>
          </a:prstGeom>
          <a:solidFill>
            <a:srgbClr val="12848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CT2"/>
          <p:cNvSpPr txBox="1"/>
          <p:nvPr/>
        </p:nvSpPr>
        <p:spPr>
          <a:xfrm>
            <a:off x="8365066" y="1676400"/>
            <a:ext cx="3382433" cy="2616200"/>
          </a:xfrm>
          <a:prstGeom prst="rect">
            <a:avLst/>
          </a:prstGeom>
          <a:noFill/>
        </p:spPr>
        <p:txBody>
          <a:bodyPr wrap="square" lIns="120650" tIns="91440" rIns="120650" bIns="91440" rtlCol="0" anchor="t"/>
          <a:lstStyle/>
          <a:p>
            <a:pPr algn="l">
              <a:spcAft>
                <a:spcPts val="600"/>
              </a:spcAft>
            </a:pPr>
            <a:r>
              <a:rPr lang="zh-TW" sz="1800" b="1" dirty="0">
                <a:solidFill>
                  <a:srgbClr val="12848D"/>
                </a:solidFill>
                <a:latin typeface="PingFang TC"/>
                <a:ea typeface="PingFang TC"/>
              </a:rPr>
              <a:t>③ LLM 時代的實現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zh-TW" sz="1500" b="0" dirty="0">
                <a:solidFill>
                  <a:srgbClr val="2C3E50"/>
                </a:solidFill>
                <a:latin typeface="PingFang TC"/>
                <a:ea typeface="PingFang TC"/>
              </a:rPr>
              <a:t>• Park 等人生成式代理：LLM 作為認知引擎，產生記憶流、反思、規劃</a:t>
            </a:r>
          </a:p>
          <a:p>
            <a:pPr algn="l">
              <a:lnSpc>
                <a:spcPct val="125000"/>
              </a:lnSpc>
              <a:spcBef>
                <a:spcPts val="300"/>
              </a:spcBef>
            </a:pPr>
            <a:r>
              <a:rPr lang="zh-TW" sz="1500" b="0" dirty="0">
                <a:solidFill>
                  <a:srgbClr val="2C3E50"/>
                </a:solidFill>
                <a:latin typeface="PingFang TC"/>
                <a:ea typeface="PingFang TC"/>
              </a:rPr>
              <a:t>• 根本缺口：情感狀態缺乏量化強度與動態更新 → 本研究動機</a:t>
            </a:r>
          </a:p>
        </p:txBody>
      </p:sp>
      <p:sp>
        <p:nvSpPr>
          <p:cNvPr id="52" name="TkTxt"/>
          <p:cNvSpPr txBox="1"/>
          <p:nvPr/>
        </p:nvSpPr>
        <p:spPr>
          <a:xfrm>
            <a:off x="203200" y="4724400"/>
            <a:ext cx="11887200" cy="1905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zh-TW" sz="1500" b="1" dirty="0">
                <a:solidFill>
                  <a:srgbClr val="E09F3E"/>
                </a:solidFill>
                <a:latin typeface="PingFang TC"/>
                <a:ea typeface="PingFang TC"/>
              </a:rPr>
              <a:t>▶ 研究動機：</a:t>
            </a:r>
            <a:r>
              <a:rPr lang="zh-TW" sz="1500" b="0" dirty="0">
                <a:solidFill>
                  <a:srgbClr val="FFFFFF"/>
                </a:solidFill>
                <a:latin typeface="PingFang TC"/>
                <a:ea typeface="PingFang TC"/>
              </a:rPr>
              <a:t>LLM 代理的認知循環已有完整理論基礎，缺乏的是情感量化強度的注入機制</a:t>
            </a:r>
          </a:p>
        </p:txBody>
      </p:sp>
    </p:spTree>
    <p:extLst>
      <p:ext uri="{BB962C8B-B14F-4D97-AF65-F5344CB8AC3E}">
        <p14:creationId xmlns:p14="http://schemas.microsoft.com/office/powerpoint/2010/main" val="3996747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"/>
          <p:cNvSpPr/>
          <p:nvPr/>
        </p:nvSpPr>
        <p:spPr>
          <a:xfrm>
            <a:off x="0" y="0"/>
            <a:ext cx="12192000" cy="1270000"/>
          </a:xfrm>
          <a:prstGeom prst="rect">
            <a:avLst/>
          </a:prstGeom>
          <a:solidFill>
            <a:srgbClr val="162A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AL"/>
          <p:cNvSpPr/>
          <p:nvPr/>
        </p:nvSpPr>
        <p:spPr>
          <a:xfrm>
            <a:off x="0" y="660000"/>
            <a:ext cx="12192000" cy="38100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SL"/>
          <p:cNvSpPr txBox="1"/>
          <p:nvPr/>
        </p:nvSpPr>
        <p:spPr>
          <a:xfrm>
            <a:off x="381000" y="88900"/>
            <a:ext cx="5000000" cy="2286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zh-TW" sz="1300" b="1" dirty="0">
                <a:solidFill>
                  <a:srgbClr val="E09F3E"/>
                </a:solidFill>
                <a:latin typeface="PingFang TC"/>
                <a:ea typeface="PingFang TC"/>
              </a:rPr>
              <a:t>第二章 · 文獻探討</a:t>
            </a:r>
          </a:p>
        </p:txBody>
      </p:sp>
      <p:sp>
        <p:nvSpPr>
          <p:cNvPr id="13" name="TT"/>
          <p:cNvSpPr txBox="1"/>
          <p:nvPr/>
        </p:nvSpPr>
        <p:spPr>
          <a:xfrm>
            <a:off x="381000" y="330200"/>
            <a:ext cx="11430000" cy="5079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zh-TW" sz="2800" b="1" dirty="0">
                <a:solidFill>
                  <a:srgbClr val="FFFFFF"/>
                </a:solidFill>
                <a:latin typeface="PingFang TC"/>
                <a:ea typeface="PingFang TC"/>
              </a:rPr>
              <a:t>情感計算與多模態情感分析</a:t>
            </a:r>
          </a:p>
        </p:txBody>
      </p:sp>
      <p:sp>
        <p:nvSpPr>
          <p:cNvPr id="14" name="Sub"/>
          <p:cNvSpPr txBox="1"/>
          <p:nvPr/>
        </p:nvSpPr>
        <p:spPr>
          <a:xfrm>
            <a:off x="381000" y="876300"/>
            <a:ext cx="11430000" cy="330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zh-TW" sz="1500" b="0" dirty="0">
                <a:solidFill>
                  <a:srgbClr val="B8C5D4"/>
                </a:solidFill>
                <a:latin typeface="PingFang TC"/>
                <a:ea typeface="PingFang TC"/>
              </a:rPr>
              <a:t>情感建模理論與融合技術演進</a:t>
            </a:r>
          </a:p>
        </p:txBody>
      </p:sp>
      <p:sp>
        <p:nvSpPr>
          <p:cNvPr id="20" name="CB0"/>
          <p:cNvSpPr/>
          <p:nvPr/>
        </p:nvSpPr>
        <p:spPr>
          <a:xfrm>
            <a:off x="381000" y="1422400"/>
            <a:ext cx="5562600" cy="381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CBar0"/>
          <p:cNvSpPr/>
          <p:nvPr/>
        </p:nvSpPr>
        <p:spPr>
          <a:xfrm>
            <a:off x="381000" y="1422400"/>
            <a:ext cx="101600" cy="3810000"/>
          </a:xfrm>
          <a:prstGeom prst="rect">
            <a:avLst/>
          </a:prstGeom>
          <a:solidFill>
            <a:srgbClr val="D63A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CT0"/>
          <p:cNvSpPr txBox="1"/>
          <p:nvPr/>
        </p:nvSpPr>
        <p:spPr>
          <a:xfrm>
            <a:off x="609600" y="1574800"/>
            <a:ext cx="5270500" cy="3556000"/>
          </a:xfrm>
          <a:prstGeom prst="rect">
            <a:avLst/>
          </a:prstGeom>
          <a:noFill/>
        </p:spPr>
        <p:txBody>
          <a:bodyPr wrap="square" lIns="137160" tIns="91440" rIns="137160" bIns="91440" rtlCol="0" anchor="t"/>
          <a:lstStyle/>
          <a:p>
            <a:pPr algn="l">
              <a:spcAft>
                <a:spcPts val="600"/>
              </a:spcAft>
            </a:pPr>
            <a:r>
              <a:rPr lang="zh-TW" sz="1800" b="1" dirty="0">
                <a:solidFill>
                  <a:srgbClr val="D63A3A"/>
                </a:solidFill>
                <a:latin typeface="PingFang TC"/>
                <a:ea typeface="PingFang TC"/>
              </a:rPr>
              <a:t>① 情感建模理論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zh-TW" sz="1500" b="0" dirty="0">
                <a:solidFill>
                  <a:srgbClr val="2C3E50"/>
                </a:solidFill>
                <a:latin typeface="PingFang TC"/>
                <a:ea typeface="PingFang TC"/>
              </a:rPr>
              <a:t>• Picard：賦予系統識別與回應情感的能力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zh-TW" sz="1500" b="0" dirty="0">
                <a:solidFill>
                  <a:srgbClr val="2C3E50"/>
                </a:solidFill>
                <a:latin typeface="PingFang TC"/>
                <a:ea typeface="PingFang TC"/>
              </a:rPr>
              <a:t>• Ekman 離散六情感 vs. Russell 環形模型（效價×喚醒度）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zh-TW" sz="1500" b="0" dirty="0">
                <a:solidFill>
                  <a:srgbClr val="2C3E50"/>
                </a:solidFill>
                <a:latin typeface="PingFang TC"/>
                <a:ea typeface="PingFang TC"/>
              </a:rPr>
              <a:t>• → 啟發 SACF 採七點量表（−3 至 +3）連續量化</a:t>
            </a:r>
          </a:p>
        </p:txBody>
      </p:sp>
      <p:sp>
        <p:nvSpPr>
          <p:cNvPr id="23" name="CB1"/>
          <p:cNvSpPr/>
          <p:nvPr/>
        </p:nvSpPr>
        <p:spPr>
          <a:xfrm>
            <a:off x="6248400" y="1422400"/>
            <a:ext cx="5562600" cy="381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CBar1"/>
          <p:cNvSpPr/>
          <p:nvPr/>
        </p:nvSpPr>
        <p:spPr>
          <a:xfrm>
            <a:off x="6248400" y="1422400"/>
            <a:ext cx="101600" cy="3810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CT1"/>
          <p:cNvSpPr txBox="1"/>
          <p:nvPr/>
        </p:nvSpPr>
        <p:spPr>
          <a:xfrm>
            <a:off x="6477000" y="1574800"/>
            <a:ext cx="5270500" cy="3556000"/>
          </a:xfrm>
          <a:prstGeom prst="rect">
            <a:avLst/>
          </a:prstGeom>
          <a:noFill/>
        </p:spPr>
        <p:txBody>
          <a:bodyPr wrap="square" lIns="137160" tIns="91440" rIns="137160" bIns="91440" rtlCol="0" anchor="t"/>
          <a:lstStyle/>
          <a:p>
            <a:pPr algn="l">
              <a:spcAft>
                <a:spcPts val="600"/>
              </a:spcAft>
            </a:pPr>
            <a:r>
              <a:rPr lang="zh-TW" sz="1800" b="1" dirty="0">
                <a:solidFill>
                  <a:srgbClr val="1F6FB2"/>
                </a:solidFill>
                <a:latin typeface="PingFang TC"/>
                <a:ea typeface="PingFang TC"/>
              </a:rPr>
              <a:t>② 多模態融合演進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zh-TW" sz="1500" b="0" dirty="0">
                <a:solidFill>
                  <a:srgbClr val="2C3E50"/>
                </a:solidFill>
                <a:latin typeface="PingFang TC"/>
                <a:ea typeface="PingFang TC"/>
              </a:rPr>
              <a:t>• 早期整合：LF-DNN、TFN、MFN（逐模態提取後整合，遇噪音瓶頸）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zh-TW" sz="1500" b="0" dirty="0">
                <a:solidFill>
                  <a:srgbClr val="2C3E50"/>
                </a:solidFill>
                <a:latin typeface="PingFang TC"/>
                <a:ea typeface="PingFang TC"/>
              </a:rPr>
              <a:t>• 近期三路線：自監督（Self-MM、MMIM）、對比（ConFEDE）、子空間分解（MISA、DMD）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zh-TW" sz="1500" b="0" dirty="0">
                <a:solidFill>
                  <a:srgbClr val="2C3E50"/>
                </a:solidFill>
                <a:latin typeface="PingFang TC"/>
                <a:ea typeface="PingFang TC"/>
              </a:rPr>
              <a:t>• 核心哲學：情感表示重在「選擇性提取」而非「全量整合」</a:t>
            </a:r>
          </a:p>
        </p:txBody>
      </p:sp>
      <p:sp>
        <p:nvSpPr>
          <p:cNvPr id="52" name="TkTxt"/>
          <p:cNvSpPr txBox="1"/>
          <p:nvPr/>
        </p:nvSpPr>
        <p:spPr>
          <a:xfrm>
            <a:off x="203200" y="5359400"/>
            <a:ext cx="118872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zh-TW" sz="1500" b="1" dirty="0">
                <a:solidFill>
                  <a:srgbClr val="E09F3E"/>
                </a:solidFill>
                <a:latin typeface="PingFang TC"/>
                <a:ea typeface="PingFang TC"/>
              </a:rPr>
              <a:t>▶ 設計啟發：</a:t>
            </a:r>
            <a:r>
              <a:rPr lang="zh-TW" sz="1500" b="0" dirty="0">
                <a:solidFill>
                  <a:srgbClr val="FFFFFF"/>
                </a:solidFill>
                <a:latin typeface="PingFang TC"/>
                <a:ea typeface="PingFang TC"/>
              </a:rPr>
              <a:t>SACF 採 Russell 環形模型的連續量化思路（七點量表），以 EMD 損失對齊序數情感距離</a:t>
            </a:r>
          </a:p>
        </p:txBody>
      </p:sp>
    </p:spTree>
    <p:extLst>
      <p:ext uri="{BB962C8B-B14F-4D97-AF65-F5344CB8AC3E}">
        <p14:creationId xmlns:p14="http://schemas.microsoft.com/office/powerpoint/2010/main" val="1364082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"/>
          <p:cNvSpPr/>
          <p:nvPr/>
        </p:nvSpPr>
        <p:spPr>
          <a:xfrm>
            <a:off x="0" y="0"/>
            <a:ext cx="12192000" cy="1270000"/>
          </a:xfrm>
          <a:prstGeom prst="rect">
            <a:avLst/>
          </a:prstGeom>
          <a:solidFill>
            <a:srgbClr val="162A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AL"/>
          <p:cNvSpPr/>
          <p:nvPr/>
        </p:nvSpPr>
        <p:spPr>
          <a:xfrm>
            <a:off x="0" y="660000"/>
            <a:ext cx="12192000" cy="38100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SL"/>
          <p:cNvSpPr txBox="1"/>
          <p:nvPr/>
        </p:nvSpPr>
        <p:spPr>
          <a:xfrm>
            <a:off x="381000" y="88900"/>
            <a:ext cx="5000000" cy="2286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zh-TW" sz="1300" b="1" dirty="0">
                <a:solidFill>
                  <a:srgbClr val="E09F3E"/>
                </a:solidFill>
                <a:latin typeface="PingFang TC"/>
                <a:ea typeface="PingFang TC"/>
              </a:rPr>
              <a:t>第二章 · 文獻探討</a:t>
            </a:r>
          </a:p>
        </p:txBody>
      </p:sp>
      <p:sp>
        <p:nvSpPr>
          <p:cNvPr id="13" name="TT"/>
          <p:cNvSpPr txBox="1"/>
          <p:nvPr/>
        </p:nvSpPr>
        <p:spPr>
          <a:xfrm>
            <a:off x="381000" y="330200"/>
            <a:ext cx="11430000" cy="5079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zh-TW" sz="2400" b="1" dirty="0">
                <a:solidFill>
                  <a:srgbClr val="FFFFFF"/>
                </a:solidFill>
                <a:latin typeface="PingFang TC"/>
                <a:ea typeface="PingFang TC"/>
              </a:rPr>
              <a:t>預訓練語言模型時代的跨模態融合</a:t>
            </a:r>
          </a:p>
        </p:txBody>
      </p:sp>
      <p:sp>
        <p:nvSpPr>
          <p:cNvPr id="14" name="Sub"/>
          <p:cNvSpPr txBox="1"/>
          <p:nvPr/>
        </p:nvSpPr>
        <p:spPr>
          <a:xfrm>
            <a:off x="381000" y="876300"/>
            <a:ext cx="11430000" cy="330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zh-TW" sz="1500" b="0" dirty="0">
                <a:solidFill>
                  <a:srgbClr val="B8C5D4"/>
                </a:solidFill>
                <a:latin typeface="PingFang TC"/>
                <a:ea typeface="PingFang TC"/>
              </a:rPr>
              <a:t>語言主幹主導、非語言訊號受控補充</a:t>
            </a:r>
          </a:p>
        </p:txBody>
      </p:sp>
      <p:sp>
        <p:nvSpPr>
          <p:cNvPr id="20" name="CB0"/>
          <p:cNvSpPr/>
          <p:nvPr/>
        </p:nvSpPr>
        <p:spPr>
          <a:xfrm>
            <a:off x="381000" y="1524000"/>
            <a:ext cx="5562600" cy="2730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CBar0"/>
          <p:cNvSpPr/>
          <p:nvPr/>
        </p:nvSpPr>
        <p:spPr>
          <a:xfrm>
            <a:off x="381000" y="1524000"/>
            <a:ext cx="101600" cy="27305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CT0"/>
          <p:cNvSpPr txBox="1"/>
          <p:nvPr/>
        </p:nvSpPr>
        <p:spPr>
          <a:xfrm>
            <a:off x="609600" y="1676400"/>
            <a:ext cx="5270500" cy="2425700"/>
          </a:xfrm>
          <a:prstGeom prst="rect">
            <a:avLst/>
          </a:prstGeom>
          <a:noFill/>
        </p:spPr>
        <p:txBody>
          <a:bodyPr wrap="square" lIns="137160" tIns="91440" rIns="137160" bIns="91440" rtlCol="0" anchor="t"/>
          <a:lstStyle/>
          <a:p>
            <a:pPr algn="l">
              <a:spcAft>
                <a:spcPts val="600"/>
              </a:spcAft>
            </a:pPr>
            <a:r>
              <a:rPr lang="zh-TW" sz="1800" b="1" dirty="0">
                <a:solidFill>
                  <a:srgbClr val="1F6FB2"/>
                </a:solidFill>
                <a:latin typeface="PingFang TC"/>
                <a:ea typeface="PingFang TC"/>
              </a:rPr>
              <a:t>① 典範轉移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zh-TW" sz="1500" b="0" dirty="0">
                <a:solidFill>
                  <a:srgbClr val="2C3E50"/>
                </a:solidFill>
                <a:latin typeface="PingFang TC"/>
                <a:ea typeface="PingFang TC"/>
              </a:rPr>
              <a:t>• 文字模態成為承載先驗知識的「語義主幹」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zh-TW" sz="1500" b="0" dirty="0">
                <a:solidFill>
                  <a:srgbClr val="2C3E50"/>
                </a:solidFill>
                <a:latin typeface="PingFang TC"/>
                <a:ea typeface="PingFang TC"/>
              </a:rPr>
              <a:t>• 聲學/視覺轉為補充注入的「情感線索」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zh-TW" sz="1500" b="0" dirty="0">
                <a:solidFill>
                  <a:srgbClr val="2C3E50"/>
                </a:solidFill>
                <a:latin typeface="PingFang TC"/>
                <a:ea typeface="PingFang TC"/>
              </a:rPr>
              <a:t>• 核心命題：不破壞語言推理下選擇性注入非語言訊號</a:t>
            </a:r>
          </a:p>
        </p:txBody>
      </p:sp>
      <p:sp>
        <p:nvSpPr>
          <p:cNvPr id="23" name="CB1"/>
          <p:cNvSpPr/>
          <p:nvPr/>
        </p:nvSpPr>
        <p:spPr>
          <a:xfrm>
            <a:off x="6248400" y="1524000"/>
            <a:ext cx="5562600" cy="27305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CBar1"/>
          <p:cNvSpPr/>
          <p:nvPr/>
        </p:nvSpPr>
        <p:spPr>
          <a:xfrm>
            <a:off x="6248400" y="1524000"/>
            <a:ext cx="101600" cy="2730500"/>
          </a:xfrm>
          <a:prstGeom prst="rect">
            <a:avLst/>
          </a:prstGeom>
          <a:solidFill>
            <a:srgbClr val="12848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CT1"/>
          <p:cNvSpPr txBox="1"/>
          <p:nvPr/>
        </p:nvSpPr>
        <p:spPr>
          <a:xfrm>
            <a:off x="6477000" y="1676400"/>
            <a:ext cx="5270500" cy="2425700"/>
          </a:xfrm>
          <a:prstGeom prst="rect">
            <a:avLst/>
          </a:prstGeom>
          <a:noFill/>
        </p:spPr>
        <p:txBody>
          <a:bodyPr wrap="square" lIns="137160" tIns="91440" rIns="137160" bIns="91440" rtlCol="0" anchor="t"/>
          <a:lstStyle/>
          <a:p>
            <a:pPr algn="l">
              <a:spcAft>
                <a:spcPts val="600"/>
              </a:spcAft>
            </a:pPr>
            <a:r>
              <a:rPr lang="zh-TW" sz="1800" b="1" dirty="0">
                <a:solidFill>
                  <a:srgbClr val="12848D"/>
                </a:solidFill>
                <a:latin typeface="PingFang TC"/>
                <a:ea typeface="PingFang TC"/>
              </a:rPr>
              <a:t>② 代表方法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zh-TW" sz="1500" b="0" dirty="0">
                <a:solidFill>
                  <a:srgbClr val="2C3E50"/>
                </a:solidFill>
                <a:latin typeface="PingFang TC"/>
                <a:ea typeface="PingFang TC"/>
              </a:rPr>
              <a:t>• UniMSE（生成式重表述）、ITHP（隱式任務提示）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zh-TW" sz="1500" b="0" dirty="0">
                <a:solidFill>
                  <a:srgbClr val="2C3E50"/>
                </a:solidFill>
                <a:latin typeface="PingFang TC"/>
                <a:ea typeface="PingFang TC"/>
              </a:rPr>
              <a:t>• MGT 多模態閘控 Transformer：語言查詢驅動跨模態注意力＋自適應閘控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zh-TW" sz="1500" b="0" dirty="0">
                <a:solidFill>
                  <a:srgbClr val="2C3E50"/>
                </a:solidFill>
                <a:latin typeface="PingFang TC"/>
                <a:ea typeface="PingFang TC"/>
              </a:rPr>
              <a:t>• MGT 為本研究 SACF 的直接對標基準</a:t>
            </a:r>
          </a:p>
        </p:txBody>
      </p:sp>
      <p:sp>
        <p:nvSpPr>
          <p:cNvPr id="52" name="TkTxt"/>
          <p:cNvSpPr txBox="1"/>
          <p:nvPr/>
        </p:nvSpPr>
        <p:spPr>
          <a:xfrm>
            <a:off x="203200" y="4635500"/>
            <a:ext cx="11887200" cy="19685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zh-TW" sz="1500" b="1" dirty="0">
                <a:solidFill>
                  <a:srgbClr val="E09F3E"/>
                </a:solidFill>
                <a:latin typeface="PingFang TC"/>
                <a:ea typeface="PingFang TC"/>
              </a:rPr>
              <a:t>▶ 對標基準：</a:t>
            </a:r>
            <a:r>
              <a:rPr lang="zh-TW" sz="1500" b="0" dirty="0">
                <a:solidFill>
                  <a:srgbClr val="FFFFFF"/>
                </a:solidFill>
                <a:latin typeface="PingFang TC"/>
                <a:ea typeface="PingFang TC"/>
              </a:rPr>
              <a:t>MGT 多模態閘控 Transformer 為 SACF 的直接對標，SACF 以 PEA 查詢取代語言查詢、以 DeBERTa-v3 取代 T5</a:t>
            </a:r>
          </a:p>
        </p:txBody>
      </p:sp>
    </p:spTree>
    <p:extLst>
      <p:ext uri="{BB962C8B-B14F-4D97-AF65-F5344CB8AC3E}">
        <p14:creationId xmlns:p14="http://schemas.microsoft.com/office/powerpoint/2010/main" val="2099290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"/>
          <p:cNvSpPr/>
          <p:nvPr/>
        </p:nvSpPr>
        <p:spPr>
          <a:xfrm>
            <a:off x="0" y="0"/>
            <a:ext cx="12192000" cy="1270000"/>
          </a:xfrm>
          <a:prstGeom prst="rect">
            <a:avLst/>
          </a:prstGeom>
          <a:solidFill>
            <a:srgbClr val="162A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AL"/>
          <p:cNvSpPr/>
          <p:nvPr/>
        </p:nvSpPr>
        <p:spPr>
          <a:xfrm>
            <a:off x="0" y="660000"/>
            <a:ext cx="12192000" cy="38100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SL"/>
          <p:cNvSpPr txBox="1"/>
          <p:nvPr/>
        </p:nvSpPr>
        <p:spPr>
          <a:xfrm>
            <a:off x="381000" y="88900"/>
            <a:ext cx="5000000" cy="2286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zh-TW" sz="1300" b="1" dirty="0">
                <a:solidFill>
                  <a:srgbClr val="E09F3E"/>
                </a:solidFill>
                <a:latin typeface="PingFang TC"/>
                <a:ea typeface="PingFang TC"/>
              </a:rPr>
              <a:t>第二章 · 文獻探討</a:t>
            </a:r>
          </a:p>
        </p:txBody>
      </p:sp>
      <p:sp>
        <p:nvSpPr>
          <p:cNvPr id="13" name="TT"/>
          <p:cNvSpPr txBox="1"/>
          <p:nvPr/>
        </p:nvSpPr>
        <p:spPr>
          <a:xfrm>
            <a:off x="381000" y="330200"/>
            <a:ext cx="11430000" cy="5079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zh-TW" sz="2800" b="1" dirty="0">
                <a:solidFill>
                  <a:srgbClr val="FFFFFF"/>
                </a:solidFill>
                <a:latin typeface="PingFang TC"/>
                <a:ea typeface="PingFang TC"/>
              </a:rPr>
              <a:t>多智能體系統與 LLM 應用</a:t>
            </a:r>
          </a:p>
        </p:txBody>
      </p:sp>
      <p:sp>
        <p:nvSpPr>
          <p:cNvPr id="14" name="Sub"/>
          <p:cNvSpPr txBox="1"/>
          <p:nvPr/>
        </p:nvSpPr>
        <p:spPr>
          <a:xfrm>
            <a:off x="381000" y="876300"/>
            <a:ext cx="11430000" cy="330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zh-TW" sz="1500" b="0" dirty="0">
                <a:solidFill>
                  <a:srgbClr val="B8C5D4"/>
                </a:solidFill>
                <a:latin typeface="PingFang TC"/>
                <a:ea typeface="PingFang TC"/>
              </a:rPr>
              <a:t>社會互動機制與工程支柱</a:t>
            </a:r>
          </a:p>
        </p:txBody>
      </p:sp>
      <p:sp>
        <p:nvSpPr>
          <p:cNvPr id="20" name="CB0"/>
          <p:cNvSpPr/>
          <p:nvPr/>
        </p:nvSpPr>
        <p:spPr>
          <a:xfrm>
            <a:off x="381000" y="1422400"/>
            <a:ext cx="5562600" cy="381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CBar0"/>
          <p:cNvSpPr/>
          <p:nvPr/>
        </p:nvSpPr>
        <p:spPr>
          <a:xfrm>
            <a:off x="381000" y="1422400"/>
            <a:ext cx="101600" cy="3810000"/>
          </a:xfrm>
          <a:prstGeom prst="rect">
            <a:avLst/>
          </a:prstGeom>
          <a:solidFill>
            <a:srgbClr val="D63A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CT0"/>
          <p:cNvSpPr txBox="1"/>
          <p:nvPr/>
        </p:nvSpPr>
        <p:spPr>
          <a:xfrm>
            <a:off x="609600" y="1574800"/>
            <a:ext cx="5270500" cy="3556000"/>
          </a:xfrm>
          <a:prstGeom prst="rect">
            <a:avLst/>
          </a:prstGeom>
          <a:noFill/>
        </p:spPr>
        <p:txBody>
          <a:bodyPr wrap="square" lIns="137160" tIns="91440" rIns="137160" bIns="91440" rtlCol="0" anchor="t"/>
          <a:lstStyle/>
          <a:p>
            <a:pPr algn="l">
              <a:spcAft>
                <a:spcPts val="600"/>
              </a:spcAft>
            </a:pPr>
            <a:r>
              <a:rPr lang="zh-TW" sz="1800" b="1" dirty="0">
                <a:solidFill>
                  <a:srgbClr val="D63A3A"/>
                </a:solidFill>
                <a:latin typeface="PingFang TC"/>
                <a:ea typeface="PingFang TC"/>
              </a:rPr>
              <a:t>① MAS 與社會情感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zh-TW" sz="1500" b="0" dirty="0">
                <a:solidFill>
                  <a:srgbClr val="2C3E50"/>
                </a:solidFill>
                <a:latin typeface="PingFang TC"/>
                <a:ea typeface="PingFang TC"/>
              </a:rPr>
              <a:t>• MAS 作為計算社會科學的「計算顯微鏡」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zh-TW" sz="1500" b="0" dirty="0">
                <a:solidFill>
                  <a:srgbClr val="2C3E50"/>
                </a:solidFill>
                <a:latin typeface="PingFang TC"/>
                <a:ea typeface="PingFang TC"/>
              </a:rPr>
              <a:t>• 社會情感能力三層次：感知他者→情感共鳴→情緒調節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zh-TW" sz="1500" b="0" dirty="0">
                <a:solidFill>
                  <a:srgbClr val="2C3E50"/>
                </a:solidFill>
                <a:latin typeface="PingFang TC"/>
                <a:ea typeface="PingFang TC"/>
              </a:rPr>
              <a:t>• 量化情感感知將互動從「定性描述」升級為「定量驅動訊號」</a:t>
            </a:r>
          </a:p>
        </p:txBody>
      </p:sp>
      <p:sp>
        <p:nvSpPr>
          <p:cNvPr id="23" name="CB1"/>
          <p:cNvSpPr/>
          <p:nvPr/>
        </p:nvSpPr>
        <p:spPr>
          <a:xfrm>
            <a:off x="6248400" y="1422400"/>
            <a:ext cx="5562600" cy="3810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CBar1"/>
          <p:cNvSpPr/>
          <p:nvPr/>
        </p:nvSpPr>
        <p:spPr>
          <a:xfrm>
            <a:off x="6248400" y="1422400"/>
            <a:ext cx="101600" cy="3810000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CT1"/>
          <p:cNvSpPr txBox="1"/>
          <p:nvPr/>
        </p:nvSpPr>
        <p:spPr>
          <a:xfrm>
            <a:off x="6477000" y="1574800"/>
            <a:ext cx="5270500" cy="3556000"/>
          </a:xfrm>
          <a:prstGeom prst="rect">
            <a:avLst/>
          </a:prstGeom>
          <a:noFill/>
        </p:spPr>
        <p:txBody>
          <a:bodyPr wrap="square" lIns="137160" tIns="91440" rIns="137160" bIns="91440" rtlCol="0" anchor="t"/>
          <a:lstStyle/>
          <a:p>
            <a:pPr algn="l">
              <a:spcAft>
                <a:spcPts val="600"/>
              </a:spcAft>
            </a:pPr>
            <a:r>
              <a:rPr lang="zh-TW" sz="1800" b="1" dirty="0">
                <a:solidFill>
                  <a:srgbClr val="E09F3E"/>
                </a:solidFill>
                <a:latin typeface="PingFang TC"/>
                <a:ea typeface="PingFang TC"/>
              </a:rPr>
              <a:t>② LLM 技術支柱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zh-TW" sz="1500" b="0" dirty="0">
                <a:solidFill>
                  <a:srgbClr val="2C3E50"/>
                </a:solidFill>
                <a:latin typeface="PingFang TC"/>
                <a:ea typeface="PingFang TC"/>
              </a:rPr>
              <a:t>• Transformer / GPT-3 少樣本學習奠定提示工程基礎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zh-TW" sz="1500" b="0" dirty="0">
                <a:solidFill>
                  <a:srgbClr val="2C3E50"/>
                </a:solidFill>
                <a:latin typeface="PingFang TC"/>
                <a:ea typeface="PingFang TC"/>
              </a:rPr>
              <a:t>• 本地 LLM（繁中、並發、資料安全）＋ DeBERTa-v3 解耦注意力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zh-TW" sz="1500" b="0" dirty="0">
                <a:solidFill>
                  <a:srgbClr val="2C3E50"/>
                </a:solidFill>
                <a:latin typeface="PingFang TC"/>
                <a:ea typeface="PingFang TC"/>
              </a:rPr>
              <a:t>• 人格漂移緩解（提示/記憶/檢核三層）＋三維加權記憶檢索（時效×重要性×相關性）</a:t>
            </a:r>
          </a:p>
        </p:txBody>
      </p:sp>
      <p:sp>
        <p:nvSpPr>
          <p:cNvPr id="52" name="TkTxt"/>
          <p:cNvSpPr txBox="1"/>
          <p:nvPr/>
        </p:nvSpPr>
        <p:spPr>
          <a:xfrm>
            <a:off x="203200" y="5359400"/>
            <a:ext cx="118872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zh-TW" sz="1500" b="1" dirty="0">
                <a:solidFill>
                  <a:srgbClr val="E09F3E"/>
                </a:solidFill>
                <a:latin typeface="PingFang TC"/>
                <a:ea typeface="PingFang TC"/>
              </a:rPr>
              <a:t>▶ 工程貢獻：</a:t>
            </a:r>
            <a:r>
              <a:rPr lang="zh-TW" sz="1500" b="0" dirty="0">
                <a:solidFill>
                  <a:srgbClr val="FFFFFF"/>
                </a:solidFill>
                <a:latin typeface="PingFang TC"/>
                <a:ea typeface="PingFang TC"/>
              </a:rPr>
              <a:t>本研究以 SACF 輸出的連續情感分數，取代文字描述，量化驅動 LLM 代理的情感感知與表達</a:t>
            </a:r>
          </a:p>
        </p:txBody>
      </p:sp>
    </p:spTree>
    <p:extLst>
      <p:ext uri="{BB962C8B-B14F-4D97-AF65-F5344CB8AC3E}">
        <p14:creationId xmlns:p14="http://schemas.microsoft.com/office/powerpoint/2010/main" val="21116422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62A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"/>
          <p:cNvSpPr/>
          <p:nvPr/>
        </p:nvSpPr>
        <p:spPr>
          <a:xfrm>
            <a:off x="0" y="0"/>
            <a:ext cx="12192000" cy="1270000"/>
          </a:xfrm>
          <a:prstGeom prst="rect">
            <a:avLst/>
          </a:prstGeom>
          <a:solidFill>
            <a:srgbClr val="162A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AL"/>
          <p:cNvSpPr/>
          <p:nvPr/>
        </p:nvSpPr>
        <p:spPr>
          <a:xfrm>
            <a:off x="0" y="660000"/>
            <a:ext cx="12192000" cy="38100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SL"/>
          <p:cNvSpPr txBox="1"/>
          <p:nvPr/>
        </p:nvSpPr>
        <p:spPr>
          <a:xfrm>
            <a:off x="381000" y="88900"/>
            <a:ext cx="5000000" cy="2286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zh-TW" sz="1300" b="1" dirty="0">
                <a:solidFill>
                  <a:srgbClr val="E09F3E"/>
                </a:solidFill>
                <a:latin typeface="PingFang TC"/>
                <a:ea typeface="PingFang TC"/>
              </a:rPr>
              <a:t>第二章 · 文獻探討</a:t>
            </a:r>
          </a:p>
        </p:txBody>
      </p:sp>
      <p:sp>
        <p:nvSpPr>
          <p:cNvPr id="13" name="TT"/>
          <p:cNvSpPr txBox="1"/>
          <p:nvPr/>
        </p:nvSpPr>
        <p:spPr>
          <a:xfrm>
            <a:off x="381000" y="330200"/>
            <a:ext cx="11430000" cy="5079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zh-TW" sz="2800" b="1" dirty="0">
                <a:solidFill>
                  <a:srgbClr val="FFFFFF"/>
                </a:solidFill>
                <a:latin typeface="PingFang TC"/>
                <a:ea typeface="PingFang TC"/>
              </a:rPr>
              <a:t>本研究在文獻中的定位</a:t>
            </a:r>
          </a:p>
        </p:txBody>
      </p:sp>
      <p:sp>
        <p:nvSpPr>
          <p:cNvPr id="14" name="Sub"/>
          <p:cNvSpPr txBox="1"/>
          <p:nvPr/>
        </p:nvSpPr>
        <p:spPr>
          <a:xfrm>
            <a:off x="381000" y="876300"/>
            <a:ext cx="11430000" cy="3302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zh-TW" sz="1500" b="0" dirty="0">
                <a:solidFill>
                  <a:srgbClr val="B8C5D4"/>
                </a:solidFill>
                <a:latin typeface="PingFang TC"/>
                <a:ea typeface="PingFang TC"/>
              </a:rPr>
              <a:t>SACF 如何踩在前人肩上</a:t>
            </a:r>
          </a:p>
        </p:txBody>
      </p:sp>
      <p:sp>
        <p:nvSpPr>
          <p:cNvPr id="20" name="CB0"/>
          <p:cNvSpPr/>
          <p:nvPr/>
        </p:nvSpPr>
        <p:spPr>
          <a:xfrm>
            <a:off x="381000" y="1524000"/>
            <a:ext cx="3674533" cy="2921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1" name="CBar0"/>
          <p:cNvSpPr/>
          <p:nvPr/>
        </p:nvSpPr>
        <p:spPr>
          <a:xfrm>
            <a:off x="381000" y="1524000"/>
            <a:ext cx="101600" cy="2921000"/>
          </a:xfrm>
          <a:prstGeom prst="rect">
            <a:avLst/>
          </a:prstGeom>
          <a:solidFill>
            <a:srgbClr val="1F6FB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2" name="CT0"/>
          <p:cNvSpPr txBox="1"/>
          <p:nvPr/>
        </p:nvSpPr>
        <p:spPr>
          <a:xfrm>
            <a:off x="609600" y="1676400"/>
            <a:ext cx="3382433" cy="2616200"/>
          </a:xfrm>
          <a:prstGeom prst="rect">
            <a:avLst/>
          </a:prstGeom>
          <a:noFill/>
        </p:spPr>
        <p:txBody>
          <a:bodyPr wrap="square" lIns="120650" tIns="91440" rIns="120650" bIns="91440" rtlCol="0" anchor="t"/>
          <a:lstStyle/>
          <a:p>
            <a:pPr algn="l">
              <a:spcAft>
                <a:spcPts val="600"/>
              </a:spcAft>
            </a:pPr>
            <a:r>
              <a:rPr lang="zh-TW" sz="1800" b="1" dirty="0">
                <a:solidFill>
                  <a:srgbClr val="1F6FB2"/>
                </a:solidFill>
                <a:latin typeface="PingFang TC"/>
                <a:ea typeface="PingFang TC"/>
              </a:rPr>
              <a:t>① 繼承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zh-TW" sz="1450" b="0" dirty="0">
                <a:solidFill>
                  <a:srgbClr val="2C3E50"/>
                </a:solidFill>
                <a:latin typeface="PingFang TC"/>
                <a:ea typeface="PingFang TC"/>
              </a:rPr>
              <a:t>• Park 生成式代理三組件：記憶流、反思、規劃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zh-TW" sz="1450" b="0" dirty="0">
                <a:solidFill>
                  <a:srgbClr val="2C3E50"/>
                </a:solidFill>
                <a:latin typeface="PingFang TC"/>
                <a:ea typeface="PingFang TC"/>
              </a:rPr>
              <a:t>• MGT 設計原則：語言主幹為主、非語言受控補充</a:t>
            </a:r>
          </a:p>
        </p:txBody>
      </p:sp>
      <p:sp>
        <p:nvSpPr>
          <p:cNvPr id="23" name="CB1"/>
          <p:cNvSpPr/>
          <p:nvPr/>
        </p:nvSpPr>
        <p:spPr>
          <a:xfrm>
            <a:off x="4258733" y="1524000"/>
            <a:ext cx="3674533" cy="2921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CBar1"/>
          <p:cNvSpPr/>
          <p:nvPr/>
        </p:nvSpPr>
        <p:spPr>
          <a:xfrm>
            <a:off x="4258733" y="1524000"/>
            <a:ext cx="101600" cy="2921000"/>
          </a:xfrm>
          <a:prstGeom prst="rect">
            <a:avLst/>
          </a:prstGeom>
          <a:solidFill>
            <a:srgbClr val="D63A3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CT1"/>
          <p:cNvSpPr txBox="1"/>
          <p:nvPr/>
        </p:nvSpPr>
        <p:spPr>
          <a:xfrm>
            <a:off x="4487333" y="1676400"/>
            <a:ext cx="3382433" cy="2616200"/>
          </a:xfrm>
          <a:prstGeom prst="rect">
            <a:avLst/>
          </a:prstGeom>
          <a:noFill/>
        </p:spPr>
        <p:txBody>
          <a:bodyPr wrap="square" lIns="120650" tIns="91440" rIns="120650" bIns="91440" rtlCol="0" anchor="t"/>
          <a:lstStyle/>
          <a:p>
            <a:pPr algn="l">
              <a:spcAft>
                <a:spcPts val="600"/>
              </a:spcAft>
            </a:pPr>
            <a:r>
              <a:rPr lang="zh-TW" sz="1800" b="1" dirty="0">
                <a:solidFill>
                  <a:srgbClr val="D63A3A"/>
                </a:solidFill>
                <a:latin typeface="PingFang TC"/>
                <a:ea typeface="PingFang TC"/>
              </a:rPr>
              <a:t>② SACF 三點差異化（vs. MGT）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zh-TW" sz="1450" b="0" dirty="0">
                <a:solidFill>
                  <a:srgbClr val="2C3E50"/>
                </a:solidFill>
                <a:latin typeface="PingFang TC"/>
                <a:ea typeface="PingFang TC"/>
              </a:rPr>
              <a:t>• 骨幹：判別式 DeBERTa-v3-large（取代生成式 T5）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zh-TW" sz="1450" b="0" dirty="0">
                <a:solidFill>
                  <a:srgbClr val="2C3E50"/>
                </a:solidFill>
                <a:latin typeface="PingFang TC"/>
                <a:ea typeface="PingFang TC"/>
              </a:rPr>
              <a:t>• 查詢：以 PEA 情感顯著詞元構建情感感知查詢，定點對準情感核心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zh-TW" sz="1450" b="0" dirty="0">
                <a:solidFill>
                  <a:srgbClr val="2C3E50"/>
                </a:solidFill>
                <a:latin typeface="PingFang TC"/>
                <a:ea typeface="PingFang TC"/>
              </a:rPr>
              <a:t>• 目標：序數 EMD＋軟序數交叉熵＋R-Drop＋跨模態 InfoNCE 對比</a:t>
            </a:r>
          </a:p>
        </p:txBody>
      </p:sp>
      <p:sp>
        <p:nvSpPr>
          <p:cNvPr id="26" name="CB2"/>
          <p:cNvSpPr/>
          <p:nvPr/>
        </p:nvSpPr>
        <p:spPr>
          <a:xfrm>
            <a:off x="8136466" y="1524000"/>
            <a:ext cx="3674533" cy="2921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DE3ED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7" name="CBar2"/>
          <p:cNvSpPr/>
          <p:nvPr/>
        </p:nvSpPr>
        <p:spPr>
          <a:xfrm>
            <a:off x="8136466" y="1524000"/>
            <a:ext cx="101600" cy="2921000"/>
          </a:xfrm>
          <a:prstGeom prst="rect">
            <a:avLst/>
          </a:prstGeom>
          <a:solidFill>
            <a:srgbClr val="12848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CT2"/>
          <p:cNvSpPr txBox="1"/>
          <p:nvPr/>
        </p:nvSpPr>
        <p:spPr>
          <a:xfrm>
            <a:off x="8365066" y="1676400"/>
            <a:ext cx="3382433" cy="2616200"/>
          </a:xfrm>
          <a:prstGeom prst="rect">
            <a:avLst/>
          </a:prstGeom>
          <a:noFill/>
        </p:spPr>
        <p:txBody>
          <a:bodyPr wrap="square" lIns="120650" tIns="91440" rIns="120650" bIns="91440" rtlCol="0" anchor="t"/>
          <a:lstStyle/>
          <a:p>
            <a:pPr algn="l">
              <a:spcAft>
                <a:spcPts val="600"/>
              </a:spcAft>
            </a:pPr>
            <a:r>
              <a:rPr lang="zh-TW" sz="1800" b="1" dirty="0">
                <a:solidFill>
                  <a:srgbClr val="12848D"/>
                </a:solidFill>
                <a:latin typeface="PingFang TC"/>
                <a:ea typeface="PingFang TC"/>
              </a:rPr>
              <a:t>③ 成果定位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zh-TW" sz="1450" b="0" dirty="0">
                <a:solidFill>
                  <a:srgbClr val="2C3E50"/>
                </a:solidFill>
                <a:latin typeface="PingFang TC"/>
                <a:ea typeface="PingFang TC"/>
              </a:rPr>
              <a:t>• Acc-7 53.06%、MAE 0.5840、Corr 0.8691，於 MAE 與 Corr 皆優於 MGT</a:t>
            </a:r>
          </a:p>
          <a:p>
            <a:pPr algn="l">
              <a:lnSpc>
                <a:spcPct val="120000"/>
              </a:lnSpc>
              <a:spcBef>
                <a:spcPts val="300"/>
              </a:spcBef>
            </a:pPr>
            <a:r>
              <a:rPr lang="zh-TW" sz="1450" b="0" dirty="0">
                <a:solidFill>
                  <a:srgbClr val="2C3E50"/>
                </a:solidFill>
                <a:latin typeface="PingFang TC"/>
                <a:ea typeface="PingFang TC"/>
              </a:rPr>
              <a:t>• 把情感從「文字描述」升格為「數值驅動訊號」，深度整合進智能體認知循環</a:t>
            </a:r>
          </a:p>
        </p:txBody>
      </p:sp>
      <p:sp>
        <p:nvSpPr>
          <p:cNvPr id="52" name="TkTxt"/>
          <p:cNvSpPr txBox="1"/>
          <p:nvPr/>
        </p:nvSpPr>
        <p:spPr>
          <a:xfrm>
            <a:off x="203200" y="4724400"/>
            <a:ext cx="11887200" cy="1905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zh-TW" sz="1500" b="1" dirty="0">
                <a:solidFill>
                  <a:srgbClr val="E09F3E"/>
                </a:solidFill>
                <a:latin typeface="PingFang TC"/>
                <a:ea typeface="PingFang TC"/>
              </a:rPr>
              <a:t>▶ 核心貢獻：</a:t>
            </a:r>
            <a:r>
              <a:rPr lang="zh-TW" sz="1500" b="0" dirty="0">
                <a:solidFill>
                  <a:srgbClr val="FFFFFF"/>
                </a:solidFill>
                <a:latin typeface="PingFang TC"/>
                <a:ea typeface="PingFang TC"/>
              </a:rPr>
              <a:t>SACF 在 MAE 與 Corr 上超越 MGT 基準，首次將情感「數值強度」注入 LLM 多智能體認知循環</a:t>
            </a:r>
          </a:p>
        </p:txBody>
      </p:sp>
    </p:spTree>
    <p:extLst>
      <p:ext uri="{BB962C8B-B14F-4D97-AF65-F5344CB8AC3E}">
        <p14:creationId xmlns:p14="http://schemas.microsoft.com/office/powerpoint/2010/main" val="15096899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第二章 · 文獻脈絡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"/>
            <a:ext cx="1133856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四條交匯的學術脈絡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251460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417320"/>
            <a:ext cx="2514600" cy="457200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417320"/>
            <a:ext cx="25146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智能體理論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65960"/>
            <a:ext cx="25146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感知-推理-行動
→ 情感三元模型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54680" y="1874520"/>
            <a:ext cx="3200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2200" b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+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417320"/>
            <a:ext cx="251460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474720" y="1417320"/>
            <a:ext cx="2514600" cy="457200"/>
          </a:xfrm>
          <a:prstGeom prst="roundRect">
            <a:avLst/>
          </a:prstGeom>
          <a:solidFill>
            <a:srgbClr val="1284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474720" y="1417320"/>
            <a:ext cx="25146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情感計算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1965960"/>
            <a:ext cx="25146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Ekman 離散情感
Russell 環形連續維度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1874520"/>
            <a:ext cx="3200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2200" b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+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09360" y="1417320"/>
            <a:ext cx="251460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309360" y="1417320"/>
            <a:ext cx="2514600" cy="457200"/>
          </a:xfrm>
          <a:prstGeom prst="round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09360" y="1417320"/>
            <a:ext cx="25146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多智能體系統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965960"/>
            <a:ext cx="25146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社會互動建模
計算社會科學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1874520"/>
            <a:ext cx="320040" cy="6400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2200" b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+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0" y="1417320"/>
            <a:ext cx="2514600" cy="1554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9144000" y="1417320"/>
            <a:ext cx="2514600" cy="457200"/>
          </a:xfrm>
          <a:prstGeom prst="round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144000" y="1417320"/>
            <a:ext cx="2514600" cy="4572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LLM 智能體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1965960"/>
            <a:ext cx="25146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生成式代理
人格化與角色扮演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246120"/>
            <a:ext cx="10881360" cy="548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5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共同指向同一個尚未被系統性解決的問題：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463040" y="3703320"/>
            <a:ext cx="9235440" cy="77724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463040" y="3703320"/>
            <a:ext cx="9235440" cy="77724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700" b="1">
                <a:solidFill>
                  <a:srgbClr val="162A4D"/>
                </a:solidFill>
                <a:latin typeface="PingFang TC"/>
                <a:ea typeface="PingFang TC"/>
                <a:cs typeface="PingFang TC"/>
              </a:rPr>
              <a:t>如何在生成式多代理模擬環境中，以「可量化的情感感知能力」驅動更真實的社交互動？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4754880"/>
            <a:ext cx="10881360" cy="1463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5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4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Russell 情感環形模型 → 啟發 SACF 採七點量表（−3~+3）連續強度，捕捉細微差異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5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4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MSA 三條路線：自監督表示學習 · 對比學習重塑特徵空間 · 表示空間分解提純情感訊號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5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4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典範轉移：文字模態成為「語義主幹」，音訊/視覺降為補充注入的「情感線索」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SACF · 李昇峰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914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7573582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第二章 · 研究定位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"/>
            <a:ext cx="1133856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SACF 與最強基線 MGT 的三點差異化設計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11064240" cy="502920"/>
          </a:xfrm>
          <a:prstGeom prst="round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265176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設計維度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1280160"/>
            <a:ext cx="3749039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MGT（對標最強基線）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0" y="1280160"/>
            <a:ext cx="4663440" cy="50292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本研究 SACF 差異化設計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1874520"/>
            <a:ext cx="1106424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874520"/>
            <a:ext cx="2560320" cy="8686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500" b="1">
                <a:solidFill>
                  <a:srgbClr val="162A4D"/>
                </a:solidFill>
                <a:latin typeface="PingFang TC"/>
                <a:ea typeface="PingFang TC"/>
                <a:cs typeface="PingFang TC"/>
              </a:rPr>
              <a:t>骨幹模型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1874520"/>
            <a:ext cx="3657600" cy="8686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生成式 T5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0" y="1874520"/>
            <a:ext cx="4572000" cy="8686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判別式 DeBERTa-v3-large
解耦注意力精準捕捉情感詞元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2852928"/>
            <a:ext cx="11064240" cy="86868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40080" y="2852928"/>
            <a:ext cx="2560320" cy="8686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500" b="1">
                <a:solidFill>
                  <a:srgbClr val="162A4D"/>
                </a:solidFill>
                <a:latin typeface="PingFang TC"/>
                <a:ea typeface="PingFang TC"/>
                <a:cs typeface="PingFang TC"/>
              </a:rPr>
              <a:t>查詢向量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852928"/>
            <a:ext cx="3657600" cy="8686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整體語言表示作查詢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852928"/>
            <a:ext cx="4572000" cy="8686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PEA 情感顯著詞元構建
情感感知查詢「定點對準」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831336"/>
            <a:ext cx="11064240" cy="8686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3831336"/>
            <a:ext cx="2560320" cy="8686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500" b="1">
                <a:solidFill>
                  <a:srgbClr val="162A4D"/>
                </a:solidFill>
                <a:latin typeface="PingFang TC"/>
                <a:ea typeface="PingFang TC"/>
                <a:cs typeface="PingFang TC"/>
              </a:rPr>
              <a:t>訓練目標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831336"/>
            <a:ext cx="3657600" cy="8686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邊際損失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49440" y="3831336"/>
            <a:ext cx="4572000" cy="8686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1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序數 EMD + 軟序數標籤
+ R-Drop + 跨模態 InfoNCE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166360"/>
            <a:ext cx="11064240" cy="1005840"/>
          </a:xfrm>
          <a:prstGeom prst="roundRect">
            <a:avLst/>
          </a:prstGeom>
          <a:solidFill>
            <a:srgbClr val="FCEF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5166360"/>
            <a:ext cx="76200" cy="1005840"/>
          </a:xfrm>
          <a:prstGeom prst="rect">
            <a:avLst/>
          </a:prstGeom>
          <a:solidFill>
            <a:srgbClr val="D6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5285232"/>
            <a:ext cx="10698480" cy="8229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300" b="1">
                <a:solidFill>
                  <a:srgbClr val="D63A3A"/>
                </a:solidFill>
                <a:latin typeface="PingFang TC"/>
                <a:ea typeface="PingFang TC"/>
                <a:cs typeface="PingFang TC"/>
              </a:rPr>
              <a:t>成果對比</a:t>
            </a:r>
          </a:p>
          <a:p>
            <a:pPr algn="l"/>
            <a:r>
              <a:rPr sz="14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SACF 在 MAE（0.5840）與 Corr（0.8691）優於 MGT（0.659 / 0.822）；Acc-7 達 </a:t>
            </a:r>
            <a:r>
              <a:rPr sz="1450" b="1">
                <a:solidFill>
                  <a:srgbClr val="D63A3A"/>
                </a:solidFill>
                <a:latin typeface="PingFang TC"/>
                <a:ea typeface="PingFang TC"/>
                <a:cs typeface="PingFang TC"/>
              </a:rPr>
              <a:t>53.06%，相對 MGT 提升 +2.62%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SACF · 李昇峰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914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36576771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0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0"/>
            <a:ext cx="3291840" cy="1828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CHAPTER</a:t>
            </a:r>
          </a:p>
          <a:p>
            <a:pPr algn="l"/>
            <a:r>
              <a:rPr sz="110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17720" y="2331720"/>
            <a:ext cx="7040880" cy="1097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SACF 情感感知跨模態融合模型</a:t>
            </a:r>
          </a:p>
          <a:p>
            <a:pPr algn="l"/>
            <a:r>
              <a:rPr sz="1600" b="0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Methodology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3794760"/>
            <a:ext cx="704088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▸ </a:t>
            </a:r>
            <a:r>
              <a:rPr sz="1600" b="0">
                <a:solidFill>
                  <a:srgbClr val="D9E2F0"/>
                </a:solidFill>
                <a:latin typeface="PingFang TC"/>
                <a:ea typeface="PingFang TC"/>
                <a:cs typeface="PingFang TC"/>
              </a:rPr>
              <a:t>多分支單一模型 × 階層式跨模態融合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4251960"/>
            <a:ext cx="704088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▸ </a:t>
            </a:r>
            <a:r>
              <a:rPr sz="1600" b="0">
                <a:solidFill>
                  <a:srgbClr val="D9E2F0"/>
                </a:solidFill>
                <a:latin typeface="PingFang TC"/>
                <a:ea typeface="PingFang TC"/>
                <a:cs typeface="PingFang TC"/>
              </a:rPr>
              <a:t>多工損失 · 兩階段訓練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4709160"/>
            <a:ext cx="704088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▸ </a:t>
            </a:r>
            <a:r>
              <a:rPr sz="1600" b="0">
                <a:solidFill>
                  <a:srgbClr val="D9E2F0"/>
                </a:solidFill>
                <a:latin typeface="PingFang TC"/>
                <a:ea typeface="PingFang TC"/>
                <a:cs typeface="PingFang TC"/>
              </a:rPr>
              <a:t>零洩漏推斷流程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SACF · 李昇峰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914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7964910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第三章 · 框架概覽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"/>
            <a:ext cx="1133856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核心設計：把「集成多樣性」內建於單一模型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43000"/>
            <a:ext cx="5577840" cy="51206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5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共享上游編碼層，下游 4 條結構同形、參數獨立的並行分支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12848D"/>
                </a:solidFill>
                <a:latin typeface="PingFang TC"/>
                <a:ea typeface="PingFang TC"/>
                <a:cs typeface="PingFang TC"/>
              </a:rPr>
              <a:t>    – </a:t>
            </a:r>
            <a:r>
              <a:rPr sz="14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各分支施以不同隨機失活率 0.10 / 0.20 / 0.30 / 0.40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12848D"/>
                </a:solidFill>
                <a:latin typeface="PingFang TC"/>
                <a:ea typeface="PingFang TC"/>
                <a:cs typeface="PingFang TC"/>
              </a:rPr>
              <a:t>    – </a:t>
            </a:r>
            <a:r>
              <a:rPr sz="14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走過不同隨機路徑 → 學到互補決策邊界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500" b="1">
                <a:solidFill>
                  <a:srgbClr val="162A4D"/>
                </a:solidFill>
                <a:latin typeface="PingFang TC"/>
                <a:ea typeface="PingFang TC"/>
                <a:cs typeface="PingFang TC"/>
              </a:rPr>
              <a:t>階層式跨模態融合（二階段）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12848D"/>
                </a:solidFill>
                <a:latin typeface="PingFang TC"/>
                <a:ea typeface="PingFang TC"/>
                <a:cs typeface="PingFang TC"/>
              </a:rPr>
              <a:t>    – </a:t>
            </a:r>
            <a:r>
              <a:rPr sz="14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Stage 1：語言-音訊、語言-視覺初步對齊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12848D"/>
                </a:solidFill>
                <a:latin typeface="PingFang TC"/>
                <a:ea typeface="PingFang TC"/>
                <a:cs typeface="PingFang TC"/>
              </a:rPr>
              <a:t>    – </a:t>
            </a:r>
            <a:r>
              <a:rPr sz="14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Stage 2：低學習率引入跨模態對比損失深層對齊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50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500" b="1">
                <a:solidFill>
                  <a:srgbClr val="162A4D"/>
                </a:solidFill>
                <a:latin typeface="PingFang TC"/>
                <a:ea typeface="PingFang TC"/>
                <a:cs typeface="PingFang TC"/>
              </a:rPr>
              <a:t>三層方差降低推斷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12848D"/>
                </a:solidFill>
                <a:latin typeface="PingFang TC"/>
                <a:ea typeface="PingFang TC"/>
                <a:cs typeface="PingFang TC"/>
              </a:rPr>
              <a:t>    – </a:t>
            </a:r>
            <a:r>
              <a:rPr sz="14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TTA×5 → 三次訓練參數空間平均 → 分類-回歸機率融合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5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450" b="1">
                <a:solidFill>
                  <a:srgbClr val="D63A3A"/>
                </a:solidFill>
                <a:latin typeface="PingFang TC"/>
                <a:ea typeface="PingFang TC"/>
                <a:cs typeface="PingFang TC"/>
              </a:rPr>
              <a:t>嚴格零資料洩漏：融合超參數皆先驗設定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234440"/>
            <a:ext cx="246888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0" y="1234440"/>
            <a:ext cx="2468880" cy="63500"/>
          </a:xfrm>
          <a:prstGeom prst="rect">
            <a:avLst/>
          </a:prstGeom>
          <a:solidFill>
            <a:srgbClr val="D6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344168"/>
            <a:ext cx="246888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2700" b="1">
                <a:solidFill>
                  <a:srgbClr val="D63A3A"/>
                </a:solidFill>
                <a:latin typeface="Arial"/>
                <a:ea typeface="Arial"/>
                <a:cs typeface="Arial"/>
              </a:rPr>
              <a:t>53.06%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37944"/>
            <a:ext cx="246888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Acc-7（主要指標）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098280" y="1234440"/>
            <a:ext cx="246888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9098280" y="1234440"/>
            <a:ext cx="2468880" cy="635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098280" y="1344168"/>
            <a:ext cx="246888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2700" b="1">
                <a:solidFill>
                  <a:srgbClr val="1F6FB2"/>
                </a:solidFill>
                <a:latin typeface="Arial"/>
                <a:ea typeface="Arial"/>
                <a:cs typeface="Arial"/>
              </a:rPr>
              <a:t>0.5840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1837944"/>
            <a:ext cx="246888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MAE（越低越好）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2423160"/>
            <a:ext cx="246888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0" y="2423160"/>
            <a:ext cx="2468880" cy="63500"/>
          </a:xfrm>
          <a:prstGeom prst="rect">
            <a:avLst/>
          </a:prstGeom>
          <a:solidFill>
            <a:srgbClr val="1284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0" y="2532888"/>
            <a:ext cx="246888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2700" b="1">
                <a:solidFill>
                  <a:srgbClr val="12848D"/>
                </a:solidFill>
                <a:latin typeface="Arial"/>
                <a:ea typeface="Arial"/>
                <a:cs typeface="Arial"/>
              </a:rPr>
              <a:t>0.8691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3026664"/>
            <a:ext cx="246888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Pearson Corr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98280" y="2423160"/>
            <a:ext cx="246888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098280" y="2423160"/>
            <a:ext cx="2468880" cy="635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098280" y="2532888"/>
            <a:ext cx="246888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2700" b="1">
                <a:solidFill>
                  <a:srgbClr val="162A4D"/>
                </a:solidFill>
                <a:latin typeface="Arial"/>
                <a:ea typeface="Arial"/>
                <a:cs typeface="Arial"/>
              </a:rPr>
              <a:t>85.42%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3026664"/>
            <a:ext cx="246888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Acc-2 二分類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0" y="3657600"/>
            <a:ext cx="5166360" cy="22860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0" y="3767328"/>
            <a:ext cx="484632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400" b="1">
                <a:solidFill>
                  <a:srgbClr val="162A4D"/>
                </a:solidFill>
                <a:latin typeface="PingFang TC"/>
                <a:ea typeface="PingFang TC"/>
                <a:cs typeface="PingFang TC"/>
              </a:rPr>
              <a:t>推斷僅需一次前向傳播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114800"/>
            <a:ext cx="4846320" cy="1737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傳統 test-time 集成需維護多個權重檔、佔用大量顯存；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3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本研究將三次獨立訓練的權重於參數空間以 0.25 / 0.45 / 0.30 加權合併為單一檔案</a:t>
            </a:r>
          </a:p>
          <a:p>
            <a:pPr algn="l">
              <a:lnSpc>
                <a:spcPct val="110000"/>
              </a:lnSpc>
            </a:pPr>
            <a:r>
              <a:rPr sz="130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4 分支於同一 forward 計算，開銷僅約單分支 1.4 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SACF · 李昇峰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446520"/>
            <a:ext cx="914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7543082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1920" y="188116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313615" cy="9144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313615" cy="45719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第三章 · 模型架構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"/>
            <a:ext cx="1133856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圖 1｜SACF 整體架構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870448"/>
            <a:ext cx="5821527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圖 1　SACF 整體架構（四橫向區塊）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647" y="1247336"/>
            <a:ext cx="5318608" cy="4983480"/>
          </a:xfrm>
          <a:prstGeom prst="roundRect">
            <a:avLst/>
          </a:prstGeom>
          <a:solidFill>
            <a:srgbClr val="FFFFFF"/>
          </a:solidFill>
          <a:ln>
            <a:solidFill>
              <a:schemeClr val="tx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81952" y="1851660"/>
            <a:ext cx="4952848" cy="47548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 dirty="0" err="1">
                <a:solidFill>
                  <a:srgbClr val="162A4D"/>
                </a:solidFill>
                <a:latin typeface="PingFang TC"/>
                <a:ea typeface="PingFang TC"/>
                <a:cs typeface="PingFang TC"/>
              </a:rPr>
              <a:t>四個橫向區塊</a:t>
            </a:r>
            <a:endParaRPr sz="1600" b="1" dirty="0">
              <a:solidFill>
                <a:srgbClr val="162A4D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00" b="1" dirty="0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400" b="0" dirty="0" err="1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輸入：文字句子</a:t>
            </a:r>
            <a:r>
              <a:rPr sz="1400" b="0" dirty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 + </a:t>
            </a:r>
            <a:r>
              <a:rPr sz="1400" b="0" dirty="0" err="1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語音音訊</a:t>
            </a:r>
            <a:r>
              <a:rPr sz="1400" b="0" dirty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 + </a:t>
            </a:r>
            <a:r>
              <a:rPr sz="1400" b="0" dirty="0" err="1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人臉視覺序列</a:t>
            </a:r>
            <a:endParaRPr sz="1400" b="0" dirty="0">
              <a:solidFill>
                <a:srgbClr val="222A38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00" b="1" dirty="0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400" b="0" dirty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共享編碼器：24 </a:t>
            </a:r>
            <a:r>
              <a:rPr sz="1400" b="0" dirty="0" err="1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層</a:t>
            </a:r>
            <a:r>
              <a:rPr sz="1400" b="0" dirty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 Transformer + </a:t>
            </a:r>
            <a:r>
              <a:rPr sz="1400" b="0" dirty="0" err="1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雙向</a:t>
            </a:r>
            <a:r>
              <a:rPr sz="1400" b="0" dirty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 LSTM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00" b="1" dirty="0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400" b="1" dirty="0">
                <a:solidFill>
                  <a:srgbClr val="D63A3A"/>
                </a:solidFill>
                <a:latin typeface="PingFang TC"/>
                <a:ea typeface="PingFang TC"/>
                <a:cs typeface="PingFang TC"/>
              </a:rPr>
              <a:t>4 </a:t>
            </a:r>
            <a:r>
              <a:rPr sz="1400" b="1" dirty="0" err="1">
                <a:solidFill>
                  <a:srgbClr val="D63A3A"/>
                </a:solidFill>
                <a:latin typeface="PingFang TC"/>
                <a:ea typeface="PingFang TC"/>
                <a:cs typeface="PingFang TC"/>
              </a:rPr>
              <a:t>條並行分支（核心</a:t>
            </a:r>
            <a:r>
              <a:rPr sz="1400" b="1" dirty="0">
                <a:solidFill>
                  <a:srgbClr val="D63A3A"/>
                </a:solidFill>
                <a:latin typeface="PingFang TC"/>
                <a:ea typeface="PingFang TC"/>
                <a:cs typeface="PingFang TC"/>
              </a:rPr>
              <a:t>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0" dirty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    </a:t>
            </a:r>
            <a:r>
              <a:rPr sz="1250" b="0" dirty="0" err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詞元級顯著性閘控</a:t>
            </a:r>
            <a:r>
              <a:rPr sz="1250" b="0" dirty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 → </a:t>
            </a:r>
            <a:r>
              <a:rPr sz="1250" b="0" dirty="0" err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二段式跨模態融合</a:t>
            </a:r>
            <a:r>
              <a:rPr sz="1250" b="0" dirty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 → </a:t>
            </a:r>
            <a:r>
              <a:rPr sz="1250" b="0" dirty="0" err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共享投影</a:t>
            </a:r>
            <a:r>
              <a:rPr sz="1250" b="0" dirty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 → </a:t>
            </a:r>
            <a:r>
              <a:rPr sz="1250" b="0" dirty="0" err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多工頭</a:t>
            </a:r>
            <a:endParaRPr sz="1250" b="0" dirty="0">
              <a:solidFill>
                <a:srgbClr val="555B66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00" b="1" dirty="0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400" b="0" dirty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輸出：7 </a:t>
            </a:r>
            <a:r>
              <a:rPr sz="1400" b="0" dirty="0" err="1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分類</a:t>
            </a:r>
            <a:r>
              <a:rPr sz="1400" b="0" dirty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 + 2 </a:t>
            </a:r>
            <a:r>
              <a:rPr sz="1400" b="0" dirty="0" err="1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分類</a:t>
            </a:r>
            <a:r>
              <a:rPr sz="1400" b="0" dirty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 + </a:t>
            </a:r>
            <a:r>
              <a:rPr sz="1400" b="0" dirty="0" err="1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強度回歸</a:t>
            </a:r>
            <a:endParaRPr sz="1400" b="0" dirty="0">
              <a:solidFill>
                <a:srgbClr val="222A38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00" b="1" dirty="0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400" b="0" dirty="0" err="1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分支平均</a:t>
            </a:r>
            <a:r>
              <a:rPr sz="1400" b="0" dirty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 → TTA → </a:t>
            </a:r>
            <a:r>
              <a:rPr sz="1400" b="0" dirty="0" err="1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參數空間集成</a:t>
            </a:r>
            <a:r>
              <a:rPr sz="1400" b="0" dirty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 → </a:t>
            </a:r>
            <a:r>
              <a:rPr sz="1400" b="0" dirty="0" err="1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機率融合</a:t>
            </a:r>
            <a:endParaRPr sz="1400" b="0" dirty="0">
              <a:solidFill>
                <a:srgbClr val="222A38"/>
              </a:solidFill>
              <a:latin typeface="PingFang TC"/>
              <a:ea typeface="PingFang TC"/>
              <a:cs typeface="PingFang T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SACF · 李昇峰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914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11</a:t>
            </a:r>
          </a:p>
        </p:txBody>
      </p:sp>
      <p:pic>
        <p:nvPicPr>
          <p:cNvPr id="14" name="圖片 13" descr="一張含有 文字, 螢幕擷取畫面, 平行, 鮮豔 的圖片&#10;&#10;自動產生的描述">
            <a:extLst>
              <a:ext uri="{FF2B5EF4-FFF2-40B4-BE49-F238E27FC236}">
                <a16:creationId xmlns:a16="http://schemas.microsoft.com/office/drawing/2014/main" id="{94C93CCC-6AD5-AB2A-B774-B73A79D5F0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8047" y="1426464"/>
            <a:ext cx="4330917" cy="424375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129465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第三章 · 資料集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"/>
            <a:ext cx="1133856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CMU-MOSI 資料集與七類情感分布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188720"/>
            <a:ext cx="5394960" cy="4937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62A4D"/>
                </a:solidFill>
                <a:latin typeface="PingFang TC"/>
                <a:ea typeface="PingFang TC"/>
                <a:cs typeface="PingFang TC"/>
              </a:rPr>
              <a:t>CMU-MOSI 多模態情感分析標準基準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5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4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93 位 YouTube 評論者、2,199 個語句單位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5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4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5 位標注員評分，平均落於 [−3, +3] 連續強度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5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4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文字（轉錄）+ 音訊（COVAREP 5維）+ 視覺（FACET 20維）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5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訓練+驗證合併 n=1,513；測試 686（僅評估一次）</a:t>
            </a:r>
          </a:p>
          <a:p>
            <a:pPr algn="l">
              <a:spcBef>
                <a:spcPts val="800"/>
              </a:spcBef>
              <a:spcAft>
                <a:spcPts val="600"/>
              </a:spcAft>
            </a:pPr>
            <a:r>
              <a:rPr sz="1500" b="1">
                <a:solidFill>
                  <a:srgbClr val="D63A3A"/>
                </a:solidFill>
                <a:latin typeface="PingFang TC"/>
                <a:ea typeface="PingFang TC"/>
                <a:cs typeface="PingFang TC"/>
              </a:rPr>
              <a:t>分布偏移挑戰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4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測試集顯著偏向負面端（類 −3 約為訓練集 3 倍）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12848D"/>
                </a:solidFill>
                <a:latin typeface="PingFang TC"/>
                <a:ea typeface="PingFang TC"/>
                <a:cs typeface="PingFang TC"/>
              </a:rPr>
              <a:t>    – </a:t>
            </a:r>
            <a:r>
              <a:rPr sz="14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→ 設計軟序數標籤、EMD 損失、三次集成多重正則緩解</a:t>
            </a:r>
          </a:p>
        </p:txBody>
      </p:sp>
      <p:pic>
        <p:nvPicPr>
          <p:cNvPr id="8" name="Picture 7" descr="image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7125" y="1932271"/>
            <a:ext cx="5868635" cy="2625441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6126480" y="5029200"/>
            <a:ext cx="566928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圖 2　CMU-MOSI 七類情感分布（訓練集 vs 測試集）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SACF · 李昇峰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914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94747675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第三章 · 模型架構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"/>
            <a:ext cx="1133856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共享編碼層　×　4 個並行分支的多樣性來源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5440680" cy="233172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76200" cy="23317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1325880"/>
            <a:ext cx="5166360" cy="2148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共享編碼層（上游）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文字骨幹：microsoft/deberta-v3-large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　24 層 Transformer · 隱藏維度 1,024 · 約 400M 參數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音訊/視覺：各 2 層雙向 LSTM（前後向各 128 維）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　投影至 d_modal = 128，僅對有效幀計算梯度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共享而非每分支獨立 → 避免模型膨脹數倍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234440"/>
            <a:ext cx="5440680" cy="233172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234440"/>
            <a:ext cx="76200" cy="2331720"/>
          </a:xfrm>
          <a:prstGeom prst="rect">
            <a:avLst/>
          </a:prstGeom>
          <a:solidFill>
            <a:srgbClr val="1284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1325880"/>
            <a:ext cx="5166360" cy="2148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2848D"/>
                </a:solidFill>
                <a:latin typeface="PingFang TC"/>
                <a:ea typeface="PingFang TC"/>
                <a:cs typeface="PingFang TC"/>
              </a:rPr>
              <a:t>4 個並行分支：三項多樣性機制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① 不同隨機失活率 0.10 / 0.20 / 0.30 / 0.40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　等價於四個不同正則強度的子網路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② 獨立的 PEA、跨模態融合與投影層參數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③ 七分類頭初始化加入 0.005·(i+1) 高斯擾動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　避免分支塌陷至近似解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840480"/>
            <a:ext cx="11064240" cy="21945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3977639"/>
            <a:ext cx="1069848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500" b="1">
                <a:solidFill>
                  <a:srgbClr val="162A4D"/>
                </a:solidFill>
                <a:latin typeface="PingFang TC"/>
                <a:ea typeface="PingFang TC"/>
                <a:cs typeface="PingFang TC"/>
              </a:rPr>
              <a:t>分支內部處理流程（單分支 forward）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" y="4526280"/>
            <a:ext cx="1874519" cy="1051560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4526280"/>
            <a:ext cx="1874519" cy="10515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PEA
極性增強注意力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59" y="4526280"/>
            <a:ext cx="256032" cy="10515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07791" y="4526280"/>
            <a:ext cx="1874519" cy="1051560"/>
          </a:xfrm>
          <a:prstGeom prst="roundRect">
            <a:avLst/>
          </a:prstGeom>
          <a:solidFill>
            <a:srgbClr val="1284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907791" y="4526280"/>
            <a:ext cx="1874519" cy="10515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Top-K 情感詞元
選擇 K=5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82310" y="4526280"/>
            <a:ext cx="256032" cy="10515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38342" y="4526280"/>
            <a:ext cx="1874519" cy="1051560"/>
          </a:xfrm>
          <a:prstGeom prst="round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38342" y="4526280"/>
            <a:ext cx="1874519" cy="10515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階層式跨模態
融合（二階段）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12861" y="4526280"/>
            <a:ext cx="256032" cy="10515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68893" y="4526280"/>
            <a:ext cx="1874519" cy="1051560"/>
          </a:xfrm>
          <a:prstGeom prst="round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68893" y="4526280"/>
            <a:ext cx="1874519" cy="10515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共享投影層
1024→512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43412" y="4526280"/>
            <a:ext cx="256032" cy="10515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299444" y="4526280"/>
            <a:ext cx="1874519" cy="1051560"/>
          </a:xfrm>
          <a:prstGeom prst="roundRect">
            <a:avLst/>
          </a:prstGeom>
          <a:solidFill>
            <a:srgbClr val="D6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299444" y="4526280"/>
            <a:ext cx="1874519" cy="105156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3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多工頭
7分類/2分類/回歸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SACF · 李昇峰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914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3236225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第三章 · 核心模組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"/>
            <a:ext cx="1133856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圖 3｜極性增強注意力 PEA</a:t>
            </a:r>
          </a:p>
        </p:txBody>
      </p:sp>
      <p:pic>
        <p:nvPicPr>
          <p:cNvPr id="7" name="Picture 6" descr="image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88281"/>
            <a:ext cx="6796863" cy="3464317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57200" y="5870448"/>
            <a:ext cx="6796863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圖 3　極性增強注意力（PEA）模組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82663" y="1234440"/>
            <a:ext cx="4343272" cy="4983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65543" y="1417320"/>
            <a:ext cx="3977512" cy="47548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62A4D"/>
                </a:solidFill>
                <a:latin typeface="PingFang TC"/>
                <a:ea typeface="PingFang TC"/>
                <a:cs typeface="PingFang TC"/>
              </a:rPr>
              <a:t>PEA：為每個詞元學習情感顯著性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5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3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對每個 DeBERTa 詞元學 0~1 的情感顯著性閘值 gᵢ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5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3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以閘值加權平均池化，產出集中於情感詞的句向量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5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3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保守係數 0.75/0.25：閘值全 0 時仍保留 75% 原始訊號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12848D"/>
                </a:solidFill>
                <a:latin typeface="PingFang TC"/>
                <a:ea typeface="PingFang TC"/>
                <a:cs typeface="PingFang TC"/>
              </a:rPr>
              <a:t>    – </a:t>
            </a:r>
            <a:r>
              <a:rPr sz="13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避免閘值梯度初期不穩定破壞語境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5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3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輸出 xₗ 供共享投影層；閘值序列 g 供下游 Top-K 選詞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SACF · 李昇峰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914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9800425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第三章 · 核心模組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"/>
            <a:ext cx="1133856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圖 4｜情感感知跨模態融合四步驟</a:t>
            </a:r>
          </a:p>
        </p:txBody>
      </p:sp>
      <p:pic>
        <p:nvPicPr>
          <p:cNvPr id="7" name="Picture 6" descr="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801740"/>
            <a:ext cx="6796863" cy="3437399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57200" y="5870448"/>
            <a:ext cx="6796863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圖 4　情感感知跨模態融合四步驟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82663" y="1234440"/>
            <a:ext cx="4343272" cy="4983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65543" y="1417320"/>
            <a:ext cx="3977512" cy="47548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1">
                <a:solidFill>
                  <a:srgbClr val="162A4D"/>
                </a:solidFill>
                <a:latin typeface="PingFang TC"/>
                <a:ea typeface="PingFang TC"/>
                <a:cs typeface="PingFang TC"/>
              </a:rPr>
              <a:t>以「情感感知查詢」取代首詞元查詢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5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3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步驟1：依顯著性取 Top-K=5 詞元，濾除停用詞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5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3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步驟2：注意力加權彙整為情感感知查詢 q_sa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5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3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步驟3：音訊/視覺投影至語言空間作鍵值，縮放點積注意力提取跨模態證據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5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3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步驟4：FFN + sigmoid 閘控 + LayerNorm 殘差融合</a:t>
            </a:r>
          </a:p>
          <a:p>
            <a:pPr algn="l">
              <a:lnSpc>
                <a:spcPct val="110000"/>
              </a:lnSpc>
              <a:spcBef>
                <a:spcPts val="600"/>
              </a:spcBef>
            </a:pPr>
            <a:r>
              <a:rPr sz="1250" b="1">
                <a:solidFill>
                  <a:srgbClr val="D63A3A"/>
                </a:solidFill>
                <a:latin typeface="PingFang TC"/>
                <a:ea typeface="PingFang TC"/>
                <a:cs typeface="PingFang TC"/>
              </a:rPr>
              <a:t>→ 4 分支融合模組參數完全獨立，注意力分布不同，是內部集成多樣性的關鍵來源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SACF · 李昇峰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914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1395989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第三章 · 內部集成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"/>
            <a:ext cx="1133856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圖 5｜四條並行分支多樣性與內部集成</a:t>
            </a:r>
          </a:p>
        </p:txBody>
      </p:sp>
      <p:pic>
        <p:nvPicPr>
          <p:cNvPr id="7" name="Picture 6" descr="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13052"/>
            <a:ext cx="6796863" cy="3814775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57200" y="5870448"/>
            <a:ext cx="6796863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圖 5　四條並行分支之多樣性來源與內部集成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82663" y="1234440"/>
            <a:ext cx="4343272" cy="4983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65543" y="1417320"/>
            <a:ext cx="3977512" cy="47548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62A4D"/>
                </a:solidFill>
                <a:latin typeface="PingFang TC"/>
                <a:ea typeface="PingFang TC"/>
                <a:cs typeface="PingFang TC"/>
              </a:rPr>
              <a:t>三層方差降低的第一層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4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各分支單獨 Acc-7：49.56% ~ 50.29%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4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4 分支內部平均後 ≈ 50.00%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12848D"/>
                </a:solidFill>
                <a:latin typeface="PingFang TC"/>
                <a:ea typeface="PingFang TC"/>
                <a:cs typeface="PingFang TC"/>
              </a:rPr>
              <a:t>    – </a:t>
            </a:r>
            <a:r>
              <a:rPr sz="14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再經參數空間平均 + 機率融合</a:t>
            </a:r>
          </a:p>
          <a:p>
            <a:pPr algn="l">
              <a:spcBef>
                <a:spcPts val="600"/>
              </a:spcBef>
              <a:spcAft>
                <a:spcPts val="800"/>
              </a:spcAft>
            </a:pPr>
            <a:r>
              <a:rPr sz="14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→ 最終 Acc-7 提升至 </a:t>
            </a:r>
            <a:r>
              <a:rPr sz="1600" b="1">
                <a:solidFill>
                  <a:srgbClr val="D63A3A"/>
                </a:solidFill>
                <a:latin typeface="PingFang TC"/>
                <a:ea typeface="PingFang TC"/>
                <a:cs typeface="PingFang TC"/>
              </a:rPr>
              <a:t>53.06%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5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3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計算開銷僅單分支約 1.4 倍，大幅降低 GPU 成本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SACF · 李昇峰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914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22984008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第三章 · 損失函數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"/>
            <a:ext cx="1133856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圖 6｜多工損失組成結構</a:t>
            </a:r>
          </a:p>
        </p:txBody>
      </p:sp>
      <p:pic>
        <p:nvPicPr>
          <p:cNvPr id="7" name="Picture 6" descr="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579851"/>
            <a:ext cx="6431112" cy="3881178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57200" y="5870448"/>
            <a:ext cx="6431112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圖 6　多工損失組成結構（三層）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16912" y="1234440"/>
            <a:ext cx="4709023" cy="4983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99792" y="1417320"/>
            <a:ext cx="4343263" cy="47548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700"/>
              </a:spcAft>
            </a:pPr>
            <a:r>
              <a:rPr sz="1450" b="1">
                <a:solidFill>
                  <a:srgbClr val="162A4D"/>
                </a:solidFill>
                <a:latin typeface="PingFang TC"/>
                <a:ea typeface="PingFang TC"/>
                <a:cs typeface="PingFang TC"/>
              </a:rPr>
              <a:t>內部驅動的多工損失（三層）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3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Layer 1 單分支：軟序數 CE + 序數 EMD + 二元 CE + Smooth-L1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3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Layer 2 跨分支：聚合 + 特徵多樣性 + 跨模態對比（僅 Stage 2）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3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Layer 3：R-Drop 一致性正則 + 總損失 L_total</a:t>
            </a:r>
          </a:p>
          <a:p>
            <a:pPr algn="l">
              <a:spcBef>
                <a:spcPts val="700"/>
              </a:spcBef>
              <a:spcAft>
                <a:spcPts val="400"/>
              </a:spcAft>
            </a:pPr>
            <a:r>
              <a:rPr sz="1350" b="1">
                <a:solidFill>
                  <a:srgbClr val="D63A3A"/>
                </a:solidFill>
                <a:latin typeface="PingFang TC"/>
                <a:ea typeface="PingFang TC"/>
                <a:cs typeface="PingFang TC"/>
              </a:rPr>
              <a:t>關鍵設計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12848D"/>
                </a:solidFill>
                <a:latin typeface="PingFang TC"/>
                <a:ea typeface="PingFang TC"/>
                <a:cs typeface="PingFang TC"/>
              </a:rPr>
              <a:t>    – </a:t>
            </a: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軟序數標籤：相鄰類錯誤懲罰 &lt; 遠距類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12848D"/>
                </a:solidFill>
                <a:latin typeface="PingFang TC"/>
                <a:ea typeface="PingFang TC"/>
                <a:cs typeface="PingFang TC"/>
              </a:rPr>
              <a:t>    – </a:t>
            </a: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EMD：以 CDF 差異約束分布形狀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12848D"/>
                </a:solidFill>
                <a:latin typeface="PingFang TC"/>
                <a:ea typeface="PingFang TC"/>
                <a:cs typeface="PingFang TC"/>
              </a:rPr>
              <a:t>    – </a:t>
            </a: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InfoNCE 對比：拉近同樣本三模態嵌入（τ=0.07）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SACF · 李昇峰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914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86150898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第三章 · 訓練策略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"/>
            <a:ext cx="1133856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圖 7｜兩階段訓練協議全景</a:t>
            </a:r>
          </a:p>
        </p:txBody>
      </p:sp>
      <p:pic>
        <p:nvPicPr>
          <p:cNvPr id="7" name="Picture 6" descr="imag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91218"/>
            <a:ext cx="7040697" cy="3658443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57200" y="5870448"/>
            <a:ext cx="7040697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圖 7　兩階段訓練協議全景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26497" y="1234440"/>
            <a:ext cx="4099438" cy="4983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09377" y="1417320"/>
            <a:ext cx="3733678" cy="47548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40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Stage 1 基底訓練（60 epoch）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12848D"/>
                </a:solidFill>
                <a:latin typeface="PingFang TC"/>
                <a:ea typeface="PingFang TC"/>
                <a:cs typeface="PingFang TC"/>
              </a:rPr>
              <a:t>    – </a:t>
            </a: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Phase1 凍結 DeBERTa 下層6層（E1–20）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12848D"/>
                </a:solidFill>
                <a:latin typeface="PingFang TC"/>
                <a:ea typeface="PingFang TC"/>
                <a:cs typeface="PingFang TC"/>
              </a:rPr>
              <a:t>    – </a:t>
            </a: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Phase2 全模型微調（E20–42）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12848D"/>
                </a:solidFill>
                <a:latin typeface="PingFang TC"/>
                <a:ea typeface="PingFang TC"/>
                <a:cs typeface="PingFang TC"/>
              </a:rPr>
              <a:t>    – </a:t>
            </a: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Phase3 SWA 隨機權重平均（E42–60）</a:t>
            </a:r>
          </a:p>
          <a:p>
            <a:pPr algn="l">
              <a:spcBef>
                <a:spcPts val="600"/>
              </a:spcBef>
              <a:spcAft>
                <a:spcPts val="500"/>
              </a:spcAft>
            </a:pPr>
            <a:r>
              <a:rPr sz="1400" b="1">
                <a:solidFill>
                  <a:srgbClr val="12848D"/>
                </a:solidFill>
                <a:latin typeface="PingFang TC"/>
                <a:ea typeface="PingFang TC"/>
                <a:cs typeface="PingFang TC"/>
              </a:rPr>
              <a:t>Stage 2 CMC 對比精修（20 epoch）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12848D"/>
                </a:solidFill>
                <a:latin typeface="PingFang TC"/>
                <a:ea typeface="PingFang TC"/>
                <a:cs typeface="PingFang TC"/>
              </a:rPr>
              <a:t>    – </a:t>
            </a: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低學習率 + 加入跨模態對比損失</a:t>
            </a:r>
          </a:p>
          <a:p>
            <a:pPr algn="l">
              <a:spcBef>
                <a:spcPts val="600"/>
              </a:spcBef>
              <a:spcAft>
                <a:spcPts val="400"/>
              </a:spcAft>
            </a:pPr>
            <a:r>
              <a:rPr sz="1350" b="1">
                <a:solidFill>
                  <a:srgbClr val="D63A3A"/>
                </a:solidFill>
                <a:latin typeface="PingFang TC"/>
                <a:ea typeface="PingFang TC"/>
                <a:cs typeface="PingFang TC"/>
              </a:rPr>
              <a:t>三次獨立執行（seed/協議不同）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12848D"/>
                </a:solidFill>
                <a:latin typeface="PingFang TC"/>
                <a:ea typeface="PingFang TC"/>
                <a:cs typeface="PingFang TC"/>
              </a:rPr>
              <a:t>    – </a:t>
            </a: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參數空間加權 0.25 / 0.45 / 0.30 合併為單一檔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SACF · 李昇峰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914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95627977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第三章 · 推斷流程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"/>
            <a:ext cx="1133856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圖 3-8｜零洩漏推斷流程</a:t>
            </a:r>
          </a:p>
        </p:txBody>
      </p:sp>
      <p:pic>
        <p:nvPicPr>
          <p:cNvPr id="7" name="Picture 6" descr="imag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754568"/>
            <a:ext cx="6796863" cy="3531743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57200" y="5870448"/>
            <a:ext cx="6796863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圖 3-8　零洩漏推斷流程（三層方差降低）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482663" y="1234440"/>
            <a:ext cx="4343272" cy="4983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665543" y="1417320"/>
            <a:ext cx="3977512" cy="47548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62A4D"/>
                </a:solidFill>
                <a:latin typeface="PingFang TC"/>
                <a:ea typeface="PingFang TC"/>
                <a:cs typeface="PingFang TC"/>
              </a:rPr>
              <a:t>三層方差降低設計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4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① TTA×5：保留 dropout 隨機性，5 次前向取平均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4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② 參數空間平均：三次訓練已預先合併為單檔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4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③ 分類-回歸機率融合：對數空間幾何平均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300" b="1">
                <a:solidFill>
                  <a:srgbClr val="D63A3A"/>
                </a:solidFill>
                <a:latin typeface="PingFang TC"/>
                <a:ea typeface="PingFang TC"/>
                <a:cs typeface="PingFang TC"/>
              </a:rPr>
              <a:t>所有融合超參數（α=0.65, σ=0.65, T=1.0）皆先驗設定，不依測試集調整 → 嚴格零資料洩漏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SACF · 李昇峰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914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32450214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第三章 · 推斷流程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"/>
            <a:ext cx="1133856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圖 3-9｜分類-回歸機率融合示意</a:t>
            </a:r>
          </a:p>
        </p:txBody>
      </p:sp>
      <p:pic>
        <p:nvPicPr>
          <p:cNvPr id="7" name="Picture 6" descr="image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67224"/>
            <a:ext cx="7284531" cy="2506431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57200" y="5870448"/>
            <a:ext cx="7284531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圖 3-9　分類-回歸機率融合示意（樣本索引 316）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970331" y="1234440"/>
            <a:ext cx="3855604" cy="4983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153211" y="1417320"/>
            <a:ext cx="3489844" cy="47548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62A4D"/>
                </a:solidFill>
                <a:latin typeface="PingFang TC"/>
                <a:ea typeface="PingFang TC"/>
                <a:cs typeface="PingFang TC"/>
              </a:rPr>
              <a:t>互補資訊融合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4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(a) 分類頭輸出的七類機率分布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4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(b) 回歸頭預測經高斯核轉換的七類分布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4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(c) 對數空間幾何平均合併的最終分布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融合後 Acc-7 提升 </a:t>
            </a:r>
            <a:r>
              <a:rPr sz="1500" b="1">
                <a:solidFill>
                  <a:srgbClr val="D63A3A"/>
                </a:solidFill>
                <a:latin typeface="PingFang TC"/>
                <a:ea typeface="PingFang TC"/>
                <a:cs typeface="PingFang TC"/>
              </a:rPr>
              <a:t>+0.44%（52.62% → 53.06%）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SACF · 李昇峰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6446520"/>
            <a:ext cx="914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35963165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0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0"/>
            <a:ext cx="3291840" cy="1828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CHAPTER</a:t>
            </a:r>
          </a:p>
          <a:p>
            <a:pPr algn="l"/>
            <a:r>
              <a:rPr sz="110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17720" y="2331720"/>
            <a:ext cx="7040880" cy="1097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SACF 情感評分模型實驗結果</a:t>
            </a:r>
          </a:p>
          <a:p>
            <a:pPr algn="l"/>
            <a:r>
              <a:rPr sz="1600" b="0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Experimental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3794760"/>
            <a:ext cx="704088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▸ </a:t>
            </a:r>
            <a:r>
              <a:rPr sz="1600" b="0">
                <a:solidFill>
                  <a:srgbClr val="D9E2F0"/>
                </a:solidFill>
                <a:latin typeface="PingFang TC"/>
                <a:ea typeface="PingFang TC"/>
                <a:cs typeface="PingFang TC"/>
              </a:rPr>
              <a:t>CMU-MOSI 五指標全面比較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4251960"/>
            <a:ext cx="704088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▸ </a:t>
            </a:r>
            <a:r>
              <a:rPr sz="1600" b="0">
                <a:solidFill>
                  <a:srgbClr val="D9E2F0"/>
                </a:solidFill>
                <a:latin typeface="PingFang TC"/>
                <a:ea typeface="PingFang TC"/>
                <a:cs typeface="PingFang TC"/>
              </a:rPr>
              <a:t>多種子穩健性 · 集成效益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4709160"/>
            <a:ext cx="704088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▸ </a:t>
            </a:r>
            <a:r>
              <a:rPr sz="1600" b="0">
                <a:solidFill>
                  <a:srgbClr val="D9E2F0"/>
                </a:solidFill>
                <a:latin typeface="PingFang TC"/>
                <a:ea typeface="PingFang TC"/>
                <a:cs typeface="PingFang TC"/>
              </a:rPr>
              <a:t>跨資料集泛化與參數效率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SACF · 李昇峰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914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9194141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第四章 · 評估指標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"/>
            <a:ext cx="1133856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五項評估指標說明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210312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1554480"/>
            <a:ext cx="2103120" cy="640080"/>
          </a:xfrm>
          <a:prstGeom prst="roundRect">
            <a:avLst/>
          </a:prstGeom>
          <a:solidFill>
            <a:srgbClr val="D6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591056"/>
            <a:ext cx="210312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Acc-7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331720"/>
            <a:ext cx="210312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七分類準確率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788920"/>
            <a:ext cx="1883664" cy="1005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連續值四捨五入至 −3~+3
細粒度識別主要指標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554480"/>
            <a:ext cx="210312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788920" y="1554480"/>
            <a:ext cx="2103120" cy="640080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788920" y="1591056"/>
            <a:ext cx="210312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Acc-2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2331720"/>
            <a:ext cx="210312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二分類準確率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8648" y="2788920"/>
            <a:ext cx="1883664" cy="1005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以正負為界判斷極性
反映基本極性辨別能力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0" y="1554480"/>
            <a:ext cx="210312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5029200" y="1554480"/>
            <a:ext cx="2103120" cy="640080"/>
          </a:xfrm>
          <a:prstGeom prst="roundRect">
            <a:avLst/>
          </a:prstGeom>
          <a:solidFill>
            <a:srgbClr val="1284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0" y="1591056"/>
            <a:ext cx="210312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0" y="2331720"/>
            <a:ext cx="210312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加權 F1 分數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38928" y="2788920"/>
            <a:ext cx="1883664" cy="1005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對類別不平衡適應性強
與 Acc-2 共評極性品質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69480" y="1554480"/>
            <a:ext cx="210312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7269480" y="1554480"/>
            <a:ext cx="2103120" cy="640080"/>
          </a:xfrm>
          <a:prstGeom prst="round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69480" y="1591056"/>
            <a:ext cx="210312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69480" y="2331720"/>
            <a:ext cx="210312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平均絕對誤差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79208" y="2788920"/>
            <a:ext cx="1883664" cy="1005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預測與真實的平均絕對差
越低越好（回歸精度）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09760" y="1554480"/>
            <a:ext cx="2103120" cy="23774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9509760" y="1554480"/>
            <a:ext cx="2103120" cy="640080"/>
          </a:xfrm>
          <a:prstGeom prst="round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509760" y="1591056"/>
            <a:ext cx="210312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Corr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2331720"/>
            <a:ext cx="210312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400" b="1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Pearson 相關係數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19488" y="2788920"/>
            <a:ext cx="1883664" cy="1005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預測與真實的線性相關
[−1,1]，越高越好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4297680"/>
            <a:ext cx="11064240" cy="1645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1">
                <a:solidFill>
                  <a:srgbClr val="162A4D"/>
                </a:solidFill>
                <a:latin typeface="PingFang TC"/>
                <a:ea typeface="PingFang TC"/>
                <a:cs typeface="PingFang TC"/>
              </a:rPr>
              <a:t>基線比較方法（參考 MGT 整理的 CMU-MOSI 對照表，共 13 個代表性方法）</a:t>
            </a:r>
          </a:p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LF-DNN · Graph-MFN · MFM · MISA · Self-MM · MMIM · DMD · ITHP · MCL-MCF · ConFEDE · CLGSI · UniMSE · MGT</a:t>
            </a:r>
          </a:p>
          <a:p>
            <a:pPr algn="l"/>
            <a:r>
              <a:rPr sz="1350" b="0">
                <a:solidFill>
                  <a:srgbClr val="D63A3A"/>
                </a:solidFill>
                <a:latin typeface="PingFang TC"/>
                <a:ea typeface="PingFang TC"/>
                <a:cs typeface="PingFang TC"/>
              </a:rPr>
              <a:t>其中 MGT（IEEE TAFFC 2025）以 PLM 為主模態 + 跨模態加法注意力，是本研究主要對標的最強基線。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SACF · 李昇峰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914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33038888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第四章 · 主要結果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"/>
            <a:ext cx="1133856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CMU-MOSI 效能比較：四項指標達 SOTA</a:t>
            </a:r>
          </a:p>
        </p:txBody>
      </p:sp>
      <p:pic>
        <p:nvPicPr>
          <p:cNvPr id="7" name="Picture 6" descr="image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2464"/>
            <a:ext cx="6400800" cy="4124512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57200" y="5852160"/>
            <a:ext cx="6400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150" b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圖 8　CMU-MOSI 多指標比較（前八模型，紅色為本研究）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086600" y="1325880"/>
            <a:ext cx="4572000" cy="566928"/>
          </a:xfrm>
          <a:prstGeom prst="round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223760" y="1325880"/>
            <a:ext cx="155448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指標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0" y="1325880"/>
            <a:ext cx="132588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MGT 基線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104120" y="1325880"/>
            <a:ext cx="146304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SACF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1956816"/>
            <a:ext cx="457200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23760" y="1956816"/>
            <a:ext cx="155448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Acc-7 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0" y="1956816"/>
            <a:ext cx="132588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>
                <a:solidFill>
                  <a:srgbClr val="222A38"/>
                </a:solidFill>
                <a:latin typeface="Arial"/>
                <a:ea typeface="Arial"/>
                <a:cs typeface="Arial"/>
              </a:rPr>
              <a:t>50.44%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104120" y="1956816"/>
            <a:ext cx="146304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50" b="1">
                <a:solidFill>
                  <a:srgbClr val="D63A3A"/>
                </a:solidFill>
                <a:latin typeface="Arial"/>
                <a:ea typeface="Arial"/>
                <a:cs typeface="Arial"/>
              </a:rPr>
              <a:t>53.06%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086600" y="2587752"/>
            <a:ext cx="4572000" cy="566928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223760" y="2587752"/>
            <a:ext cx="155448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Acc-2 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2587752"/>
            <a:ext cx="132588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>
                <a:solidFill>
                  <a:srgbClr val="222A38"/>
                </a:solidFill>
                <a:latin typeface="Arial"/>
                <a:ea typeface="Arial"/>
                <a:cs typeface="Arial"/>
              </a:rPr>
              <a:t>86.30%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04120" y="2587752"/>
            <a:ext cx="146304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50" b="1">
                <a:solidFill>
                  <a:srgbClr val="222A38"/>
                </a:solidFill>
                <a:latin typeface="Arial"/>
                <a:ea typeface="Arial"/>
                <a:cs typeface="Arial"/>
              </a:rPr>
              <a:t>85.42%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86600" y="3218688"/>
            <a:ext cx="457200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223760" y="3218688"/>
            <a:ext cx="155448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F1 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78240" y="3218688"/>
            <a:ext cx="132588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>
                <a:solidFill>
                  <a:srgbClr val="222A38"/>
                </a:solidFill>
                <a:latin typeface="Arial"/>
                <a:ea typeface="Arial"/>
                <a:cs typeface="Arial"/>
              </a:rPr>
              <a:t>86.28%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04120" y="3218688"/>
            <a:ext cx="146304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50" b="1">
                <a:solidFill>
                  <a:srgbClr val="222A38"/>
                </a:solidFill>
                <a:latin typeface="Arial"/>
                <a:ea typeface="Arial"/>
                <a:cs typeface="Arial"/>
              </a:rPr>
              <a:t>85.41%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086600" y="3849624"/>
            <a:ext cx="4572000" cy="566928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223760" y="3849624"/>
            <a:ext cx="155448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MAE 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40" y="3849624"/>
            <a:ext cx="132588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>
                <a:solidFill>
                  <a:srgbClr val="222A38"/>
                </a:solidFill>
                <a:latin typeface="Arial"/>
                <a:ea typeface="Arial"/>
                <a:cs typeface="Arial"/>
              </a:rPr>
              <a:t>0.659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04120" y="3849624"/>
            <a:ext cx="146304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50" b="1">
                <a:solidFill>
                  <a:srgbClr val="D63A3A"/>
                </a:solidFill>
                <a:latin typeface="Arial"/>
                <a:ea typeface="Arial"/>
                <a:cs typeface="Arial"/>
              </a:rPr>
              <a:t>0.5840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086600" y="4480560"/>
            <a:ext cx="4572000" cy="566928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223760" y="4480560"/>
            <a:ext cx="155448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1400" b="1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Corr ↑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4480560"/>
            <a:ext cx="132588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00" b="0">
                <a:solidFill>
                  <a:srgbClr val="222A38"/>
                </a:solidFill>
                <a:latin typeface="Arial"/>
                <a:ea typeface="Arial"/>
                <a:cs typeface="Arial"/>
              </a:rPr>
              <a:t>0.822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04120" y="4480560"/>
            <a:ext cx="146304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450" b="1">
                <a:solidFill>
                  <a:srgbClr val="D63A3A"/>
                </a:solidFill>
                <a:latin typeface="Arial"/>
                <a:ea typeface="Arial"/>
                <a:cs typeface="Arial"/>
              </a:rPr>
              <a:t>0.8691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86600" y="5349240"/>
            <a:ext cx="4572000" cy="9144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30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300" b="1">
                <a:solidFill>
                  <a:srgbClr val="D63A3A"/>
                </a:solidFill>
                <a:latin typeface="PingFang TC"/>
                <a:ea typeface="PingFang TC"/>
                <a:cs typeface="PingFang TC"/>
              </a:rPr>
              <a:t>Acc-7 +2.62%、MAE −11.4%、Corr +0.047 全面領先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25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Acc-2/F1 僅微幅落後 0.88%（多模態互補訊號）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SACF · 李昇峰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914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1406198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第四章 · 穩健性與集成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"/>
            <a:ext cx="1133856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多種子穩健性分析 與 集成效益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5440680" cy="265176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76200" cy="265176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1325880"/>
            <a:ext cx="5166360" cy="24688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三次獨立執行（單模型 Acc-7）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Run 1（seed=42，標準協議）：52.62%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Run 2（seed=42，Stage 2 延長）：52.48%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Run 3（seed=5678，加兩輪 BAN）：51.60%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標準差 ≈ 0.43% → 高度一致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三次皆超越 MGT 基線約 1–2%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MAE 0.591–0.609、Corr 均 &gt; 0.860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234440"/>
            <a:ext cx="5440680" cy="265176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234440"/>
            <a:ext cx="76200" cy="2651760"/>
          </a:xfrm>
          <a:prstGeom prst="rect">
            <a:avLst/>
          </a:prstGeom>
          <a:solidFill>
            <a:srgbClr val="1284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1325880"/>
            <a:ext cx="5166360" cy="24688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2848D"/>
                </a:solidFill>
                <a:latin typeface="PingFang TC"/>
                <a:ea typeface="PingFang TC"/>
                <a:cs typeface="PingFang TC"/>
              </a:rPr>
              <a:t>三種子等權集成效益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每樣本 3 種子 × 5 TTA = 15 次獨立推斷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Acc-7：53.06%（較最優單執行 +0.44%）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　　　（較最弱單執行 +1.46%）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MAE：0.5840（較單執行均值降 ≈1.6%）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Corr：0.8691（高於所有單執行）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不同種子探索不同收斂路徑 → 互補決策邊界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0520"/>
            <a:ext cx="11064240" cy="19202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31520" y="4279392"/>
            <a:ext cx="1069848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500" b="1">
                <a:solidFill>
                  <a:srgbClr val="162A4D"/>
                </a:solidFill>
                <a:latin typeface="PingFang TC"/>
                <a:ea typeface="PingFang TC"/>
                <a:cs typeface="PingFang TC"/>
              </a:rPr>
              <a:t>三層方差降低如何疊加出最終 53.06%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4846320"/>
            <a:ext cx="2286000" cy="914400"/>
          </a:xfrm>
          <a:prstGeom prst="roundRect">
            <a:avLst/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097280" y="4846320"/>
            <a:ext cx="2286000" cy="9144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單分支
~50.0%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83280" y="4846320"/>
            <a:ext cx="502920" cy="9144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886200" y="4846320"/>
            <a:ext cx="2286000" cy="914400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886200" y="4846320"/>
            <a:ext cx="2286000" cy="9144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內部集成
50.00%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4846320"/>
            <a:ext cx="502920" cy="9144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▶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4846320"/>
            <a:ext cx="2286000" cy="914400"/>
          </a:xfrm>
          <a:prstGeom prst="roundRect">
            <a:avLst/>
          </a:prstGeom>
          <a:solidFill>
            <a:srgbClr val="1284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675120" y="4846320"/>
            <a:ext cx="2286000" cy="9144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參數空間平均
+ 機率融合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0" y="4846320"/>
            <a:ext cx="502920" cy="9144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8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464040" y="4846320"/>
            <a:ext cx="2286000" cy="914400"/>
          </a:xfrm>
          <a:prstGeom prst="roundRect">
            <a:avLst/>
          </a:prstGeom>
          <a:solidFill>
            <a:srgbClr val="D6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64040" y="4846320"/>
            <a:ext cx="2286000" cy="9144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最終 Acc-7
53.06%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SACF · 李昇峰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914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24</a:t>
            </a:r>
          </a:p>
        </p:txBody>
      </p:sp>
    </p:spTree>
    <p:extLst>
      <p:ext uri="{BB962C8B-B14F-4D97-AF65-F5344CB8AC3E}">
        <p14:creationId xmlns:p14="http://schemas.microsoft.com/office/powerpoint/2010/main" val="313098072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第四章 · 泛化性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"/>
            <a:ext cx="1133856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跨資料集泛化（一）：MMAFFBen 五任務</a:t>
            </a:r>
          </a:p>
        </p:txBody>
      </p:sp>
      <p:pic>
        <p:nvPicPr>
          <p:cNvPr id="7" name="Picture 6" descr="imag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633058"/>
            <a:ext cx="6400800" cy="3317563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57200" y="5440680"/>
            <a:ext cx="640080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100" b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圖 9　SACF-Text 與其他語言模型在 MMAFFBen 五任務平均 macro-F1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86600" y="1280160"/>
            <a:ext cx="4572000" cy="4937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62A4D"/>
                </a:solidFill>
                <a:latin typeface="PingFang TC"/>
                <a:ea typeface="PingFang TC"/>
                <a:cs typeface="PingFang TC"/>
              </a:rPr>
              <a:t>輕量遷移學習設定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4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以 CMU-MOSI 最佳檢查點初始化，僅微調 1–3 epoch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5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450" b="1">
                <a:solidFill>
                  <a:srgbClr val="D63A3A"/>
                </a:solidFill>
                <a:latin typeface="PingFang TC"/>
                <a:ea typeface="PingFang TC"/>
                <a:cs typeface="PingFang TC"/>
              </a:rPr>
              <a:t>平均 ma-F1 = 56.74，排名第三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50" b="1">
                <a:solidFill>
                  <a:srgbClr val="12848D"/>
                </a:solidFill>
                <a:latin typeface="PingFang TC"/>
                <a:ea typeface="PingFang TC"/>
                <a:cs typeface="PingFang TC"/>
              </a:rPr>
              <a:t>    – </a:t>
            </a:r>
            <a:r>
              <a:rPr sz="13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僅次於 MMAFFLM-3b（58.2）/ 7b（57.1）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50" b="1">
                <a:solidFill>
                  <a:srgbClr val="12848D"/>
                </a:solidFill>
                <a:latin typeface="PingFang TC"/>
                <a:ea typeface="PingFang TC"/>
                <a:cs typeface="PingFang TC"/>
              </a:rPr>
              <a:t>    – </a:t>
            </a:r>
            <a:r>
              <a:rPr sz="13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以 0.435B 參數達同級水準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4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MMS 三語情感強度 61.42 → 排名第一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4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Onlineshopping 中文極性 92.82，領先 GPT-4o-mini +30.9%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5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3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大幅領先 GPT-4o-mini（51.8）與 EmoLlama-7b（37.8）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SACF · 李昇峰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914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25</a:t>
            </a:r>
          </a:p>
        </p:txBody>
      </p:sp>
    </p:spTree>
    <p:extLst>
      <p:ext uri="{BB962C8B-B14F-4D97-AF65-F5344CB8AC3E}">
        <p14:creationId xmlns:p14="http://schemas.microsoft.com/office/powerpoint/2010/main" val="31459596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第四章 · 泛化性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"/>
            <a:ext cx="1133856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跨資料集泛化（二）：CMU-MOSEI（10× 規模）</a:t>
            </a:r>
          </a:p>
        </p:txBody>
      </p:sp>
      <p:pic>
        <p:nvPicPr>
          <p:cNvPr id="7" name="Picture 6" descr="imag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406" y="1234440"/>
            <a:ext cx="5555427" cy="2834640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11480" y="4114800"/>
            <a:ext cx="566928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50" b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圖 10　CMU-MOSEI 七分類準確率模型排序</a:t>
            </a:r>
          </a:p>
        </p:txBody>
      </p:sp>
      <p:pic>
        <p:nvPicPr>
          <p:cNvPr id="9" name="Picture 8" descr="image1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7641" y="4526280"/>
            <a:ext cx="2836958" cy="1828800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11480" y="6400800"/>
            <a:ext cx="566928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050" b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圖 11　CMU-MOSEI 多指標比較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1234440"/>
            <a:ext cx="5349240" cy="5029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62A4D"/>
                </a:solidFill>
                <a:latin typeface="PingFang TC"/>
                <a:ea typeface="PingFang TC"/>
                <a:cs typeface="PingFang TC"/>
              </a:rPr>
              <a:t>僅用文字模態，超越多模態基線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4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22,852 語句，規模為 CMU-MOSI 十倍以上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5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450" b="1">
                <a:solidFill>
                  <a:srgbClr val="D63A3A"/>
                </a:solidFill>
                <a:latin typeface="PingFang TC"/>
                <a:ea typeface="PingFang TC"/>
                <a:cs typeface="PingFang TC"/>
              </a:rPr>
              <a:t>Acc-7 = 55.49% → 13 個對照模型中排名第一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50" b="1">
                <a:solidFill>
                  <a:srgbClr val="12848D"/>
                </a:solidFill>
                <a:latin typeface="PingFang TC"/>
                <a:ea typeface="PingFang TC"/>
                <a:cs typeface="PingFang TC"/>
              </a:rPr>
              <a:t>    – </a:t>
            </a:r>
            <a:r>
              <a:rPr sz="13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略高於 MGT（55.10%），優於 DMD/UniMSE/MMIM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4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MAE 0.4881、Corr 0.8243 皆最佳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0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4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Within-1 達 96.24% → 序數擬合品質極佳</a:t>
            </a:r>
          </a:p>
          <a:p>
            <a:pPr algn="l">
              <a:lnSpc>
                <a:spcPct val="115000"/>
              </a:lnSpc>
              <a:spcBef>
                <a:spcPts val="800"/>
              </a:spcBef>
            </a:pPr>
            <a:r>
              <a:rPr sz="13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文字分支已內化 CMU-MOSI 習得的情感先驗，能有效遷移至更大規模資料集；驗證 PEA + 共享編碼 + 多工損失將情感歸納偏好內化於語言骨幹。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SACF · 李昇峰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914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26</a:t>
            </a:r>
          </a:p>
        </p:txBody>
      </p:sp>
    </p:spTree>
    <p:extLst>
      <p:ext uri="{BB962C8B-B14F-4D97-AF65-F5344CB8AC3E}">
        <p14:creationId xmlns:p14="http://schemas.microsoft.com/office/powerpoint/2010/main" val="39806037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第四章 · 泛化性與效率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"/>
            <a:ext cx="1133856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SemEval-2018 三語言 與 參數效率分析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5440680" cy="265176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76200" cy="265176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1325880"/>
            <a:ext cx="5166360" cy="24688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SemEval-2018 Task 1（EN/AR/ES）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三語言整體分數 66.99，排名第三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英語 73.04 → 超越 18× 大的 GPT-4o-mini（70.00）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西班牙語 69.28，接近 EmoLlama-7b（76.37）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阿拉伯語 58.64 偏弱（英文預訓練背景所致）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驗證情感表示具跨語言遷移能力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234440"/>
            <a:ext cx="5440680" cy="265176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234440"/>
            <a:ext cx="76200" cy="2651760"/>
          </a:xfrm>
          <a:prstGeom prst="rect">
            <a:avLst/>
          </a:prstGeom>
          <a:solidFill>
            <a:srgbClr val="D6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1325880"/>
            <a:ext cx="5166360" cy="24688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D63A3A"/>
                </a:solidFill>
                <a:latin typeface="PingFang TC"/>
                <a:ea typeface="PingFang TC"/>
                <a:cs typeface="PingFang TC"/>
              </a:rPr>
              <a:t>參數效率（分/十億參數）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SemEval：154.0 分/B → 全部模型最高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　為第二名 MMAFFLM-3b（21.8）的 7.1 倍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MMAFFBen：127.6 分/B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　為 MMAFFLM-3b 的 6.6 倍、GPT-4o-mini 的 20.3 倍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以 0.435B 參數媲美 16–26× 規模的模型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4160520"/>
            <a:ext cx="11064240" cy="1920240"/>
          </a:xfrm>
          <a:prstGeom prst="roundRect">
            <a:avLst/>
          </a:prstGeom>
          <a:solidFill>
            <a:srgbClr val="ECF4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4160520"/>
            <a:ext cx="76200" cy="1920240"/>
          </a:xfrm>
          <a:prstGeom prst="rect">
            <a:avLst/>
          </a:prstGeom>
          <a:solidFill>
            <a:srgbClr val="1284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4297680"/>
            <a:ext cx="10698480" cy="17373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2848D"/>
                </a:solidFill>
                <a:latin typeface="PingFang TC"/>
                <a:ea typeface="PingFang TC"/>
                <a:cs typeface="PingFang TC"/>
              </a:rPr>
              <a:t>核心主張獲得驗證</a:t>
            </a:r>
          </a:p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在情感分析任務上，針對性設計的跨模態注意力架構（SACF + PEA）結合情感標記語料精調，能以極低參數代價實現媲美大型語言模型的跨任務情感泛化能力。</a:t>
            </a:r>
          </a:p>
          <a:p>
            <a:pPr algn="l"/>
            <a:r>
              <a:rPr sz="1400" b="1">
                <a:solidFill>
                  <a:srgbClr val="162A4D"/>
                </a:solidFill>
                <a:latin typeface="PingFang TC"/>
                <a:ea typeface="PingFang TC"/>
                <a:cs typeface="PingFang TC"/>
              </a:rPr>
              <a:t>→ 對計算資源受限的部署場景（如本研究的本地多代理情感感知系統）具重要實際意義。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SACF · 李昇峰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914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36560477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g"/>
          <p:cNvSpPr>
            <a:spLocks noGrp="1"/>
          </p:cNvSpPr>
          <p:nvPr/>
        </p:nvSpPr>
        <p:spPr>
          <a:xfrm>
            <a:off x="0" y="0"/>
            <a:ext cx="8754000" cy="631080"/>
          </a:xfrm>
          <a:prstGeom prst="rect">
            <a:avLst/>
          </a:prstGeom>
          <a:solidFill>
            <a:srgbClr val="162A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AccentLine"/>
          <p:cNvSpPr>
            <a:spLocks noGrp="1"/>
          </p:cNvSpPr>
          <p:nvPr/>
        </p:nvSpPr>
        <p:spPr>
          <a:xfrm>
            <a:off x="0" y="631080"/>
            <a:ext cx="8754000" cy="36576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SlideTitle"/>
          <p:cNvSpPr txBox="1"/>
          <p:nvPr/>
        </p:nvSpPr>
        <p:spPr>
          <a:xfrm>
            <a:off x="328000" y="130000"/>
            <a:ext cx="8110000" cy="46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zh-TW" sz="2200" b="1" dirty="0">
                <a:solidFill>
                  <a:srgbClr val="FFFFFF"/>
                </a:solidFill>
                <a:latin typeface="PingFang TC"/>
                <a:ea typeface="PingFang TC"/>
              </a:rPr>
              <a:t>資料劃分（CMU-MOSI 樣本數）</a:t>
            </a:r>
          </a:p>
        </p:txBody>
      </p:sp>
      <p:graphicFrame>
        <p:nvGraphicFramePr>
          <p:cNvPr id="20" name="DataTable"/>
          <p:cNvGraphicFramePr>
            <a:graphicFrameLocks noGrp="1"/>
          </p:cNvGraphicFramePr>
          <p:nvPr/>
        </p:nvGraphicFramePr>
        <p:xfrm>
          <a:off x="328000" y="900000"/>
          <a:ext cx="8109999" cy="20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3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3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3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0000">
                <a:tc>
                  <a:txBody>
                    <a:bodyPr/>
                    <a:lstStyle/>
                    <a:p>
                      <a:pPr algn="l"/>
                      <a:r>
                        <a:rPr lang="zh-TW" sz="1600" b="1" dirty="0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資料劃分</a:t>
                      </a:r>
                    </a:p>
                  </a:txBody>
                  <a:tcPr marL="182880" marR="182880" marT="91440" marB="91440">
                    <a:solidFill>
                      <a:srgbClr val="162A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sz="1600" b="1" dirty="0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樣本數</a:t>
                      </a:r>
                    </a:p>
                  </a:txBody>
                  <a:tcPr marL="182880" marR="182880" marT="91440" marB="91440">
                    <a:solidFill>
                      <a:srgbClr val="162A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sz="1600" b="1" dirty="0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用途</a:t>
                      </a:r>
                    </a:p>
                  </a:txBody>
                  <a:tcPr marL="182880" marR="182880" marT="91440" marB="91440">
                    <a:solidFill>
                      <a:srgbClr val="162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pPr algn="l"/>
                      <a:r>
                        <a:rPr lang="zh-TW" sz="15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Train</a:t>
                      </a:r>
                    </a:p>
                  </a:txBody>
                  <a:tcPr marL="182880" marR="18288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5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1,513</a:t>
                      </a:r>
                    </a:p>
                  </a:txBody>
                  <a:tcPr marL="182880" marR="182880" marT="91440" marB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5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模型訓練</a:t>
                      </a:r>
                    </a:p>
                  </a:txBody>
                  <a:tcPr marL="182880" marR="182880" marT="91440" marB="91440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0000">
                <a:tc>
                  <a:txBody>
                    <a:bodyPr/>
                    <a:lstStyle/>
                    <a:p>
                      <a:pPr algn="l"/>
                      <a:r>
                        <a:rPr lang="zh-TW" sz="15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Test</a:t>
                      </a:r>
                    </a:p>
                  </a:txBody>
                  <a:tcPr marL="182880" marR="182880" marT="91440" marB="9144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5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686</a:t>
                      </a:r>
                    </a:p>
                  </a:txBody>
                  <a:tcPr marL="182880" marR="182880" marT="91440" marB="91440"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5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最終評估</a:t>
                      </a:r>
                    </a:p>
                  </a:txBody>
                  <a:tcPr marL="182880" marR="182880" marT="91440" marB="91440">
                    <a:solidFill>
                      <a:srgbClr val="EB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6230026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eaderBg"/>
          <p:cNvSpPr>
            <a:spLocks noGrp="1"/>
          </p:cNvSpPr>
          <p:nvPr/>
        </p:nvSpPr>
        <p:spPr>
          <a:xfrm>
            <a:off x="0" y="0"/>
            <a:ext cx="8754000" cy="631080"/>
          </a:xfrm>
          <a:prstGeom prst="rect">
            <a:avLst/>
          </a:prstGeom>
          <a:solidFill>
            <a:srgbClr val="162A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AccentLine"/>
          <p:cNvSpPr>
            <a:spLocks noGrp="1"/>
          </p:cNvSpPr>
          <p:nvPr/>
        </p:nvSpPr>
        <p:spPr>
          <a:xfrm>
            <a:off x="0" y="631080"/>
            <a:ext cx="8754000" cy="36576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SlideTitle"/>
          <p:cNvSpPr txBox="1"/>
          <p:nvPr/>
        </p:nvSpPr>
        <p:spPr>
          <a:xfrm>
            <a:off x="328000" y="130000"/>
            <a:ext cx="8110000" cy="46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zh-TW" sz="2200" b="1" dirty="0">
                <a:solidFill>
                  <a:srgbClr val="FFFFFF"/>
                </a:solidFill>
                <a:latin typeface="PingFang TC"/>
                <a:ea typeface="PingFang TC"/>
              </a:rPr>
              <a:t>兩階段訓練超參數設定</a:t>
            </a:r>
          </a:p>
        </p:txBody>
      </p:sp>
      <p:graphicFrame>
        <p:nvGraphicFramePr>
          <p:cNvPr id="20" name="DataTable"/>
          <p:cNvGraphicFramePr>
            <a:graphicFrameLocks noGrp="1"/>
          </p:cNvGraphicFramePr>
          <p:nvPr/>
        </p:nvGraphicFramePr>
        <p:xfrm>
          <a:off x="328000" y="720000"/>
          <a:ext cx="8109999" cy="5154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33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3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33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zh-TW" sz="1300" b="1" dirty="0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超參數</a:t>
                      </a:r>
                    </a:p>
                  </a:txBody>
                  <a:tcPr>
                    <a:solidFill>
                      <a:srgbClr val="162A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sz="1300" b="1" dirty="0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Stage 1（基底）</a:t>
                      </a:r>
                    </a:p>
                  </a:txBody>
                  <a:tcPr>
                    <a:solidFill>
                      <a:srgbClr val="162A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sz="1300" b="1" dirty="0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Stage 2（對比精修）</a:t>
                      </a:r>
                    </a:p>
                  </a:txBody>
                  <a:tcPr>
                    <a:solidFill>
                      <a:srgbClr val="162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l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epochs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l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語言骨幹學習率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4×10⁻⁶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1×10⁻⁶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l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下游頭學習率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8×10⁻⁵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2×10⁻⁵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l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weight_decay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0.01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0.01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l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batch_size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l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warmup_ratio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0.06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0.06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l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凍結階段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0–5 層（E1–20）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全模型微調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l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per-branch dropout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[0.10, 0.20, 0.30, 0.40]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[0.10, 0.20, 0.30, 0.40]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l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label_smoothing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l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wEMD / σsoftCE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0.25 / 0.8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0.25 / 0.8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l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wmean / wper / wdiv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0.5 / 0.5 / 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0.5 / 0.5 / 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l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wCMC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0（不啟用）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0.3（啟用）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l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R-Drop weight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0.05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l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CMC τ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—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0.07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l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ema_decay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0.9995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0.9995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l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SWA window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E42–60，step = 2（10 快照）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整個 20 epoch，step = 1（16 快照）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0000">
                <a:tc>
                  <a:txBody>
                    <a:bodyPr/>
                    <a:lstStyle/>
                    <a:p>
                      <a:pPr algn="l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三次執行協議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Run 1 seed=42（標準）｜Run 2 seed=42（Stage 2 延長）｜Run 3 seed=5678（加兩輪 BAN）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參數空間加權平均 0.25 / 0.45 / 0.30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373200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"/>
          <p:cNvSpPr>
            <a:spLocks noGrp="1"/>
          </p:cNvSpPr>
          <p:nvPr/>
        </p:nvSpPr>
        <p:spPr>
          <a:xfrm>
            <a:off x="0" y="0"/>
            <a:ext cx="8754000" cy="631080"/>
          </a:xfrm>
          <a:prstGeom prst="rect">
            <a:avLst/>
          </a:prstGeom>
          <a:solidFill>
            <a:srgbClr val="162A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L"/>
          <p:cNvSpPr>
            <a:spLocks noGrp="1"/>
          </p:cNvSpPr>
          <p:nvPr/>
        </p:nvSpPr>
        <p:spPr>
          <a:xfrm>
            <a:off x="0" y="631080"/>
            <a:ext cx="8754000" cy="36576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T"/>
          <p:cNvSpPr txBox="1"/>
          <p:nvPr/>
        </p:nvSpPr>
        <p:spPr>
          <a:xfrm>
            <a:off x="328000" y="130000"/>
            <a:ext cx="8110000" cy="46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zh-TW" sz="2200" b="1" dirty="0">
                <a:solidFill>
                  <a:srgbClr val="FFFFFF"/>
                </a:solidFill>
                <a:latin typeface="PingFang TC"/>
                <a:ea typeface="PingFang TC"/>
              </a:rPr>
              <a:t>CMU-MOSI 資料集效能比較</a:t>
            </a:r>
          </a:p>
        </p:txBody>
      </p:sp>
      <p:graphicFrame>
        <p:nvGraphicFramePr>
          <p:cNvPr id="20" name="DataTable"/>
          <p:cNvGraphicFramePr>
            <a:graphicFrameLocks noGrp="1"/>
          </p:cNvGraphicFramePr>
          <p:nvPr/>
        </p:nvGraphicFramePr>
        <p:xfrm>
          <a:off x="328000" y="720000"/>
          <a:ext cx="8109996" cy="44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1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16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16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16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16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zh-TW" sz="1300" b="1" dirty="0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模型</a:t>
                      </a:r>
                    </a:p>
                  </a:txBody>
                  <a:tcPr>
                    <a:solidFill>
                      <a:srgbClr val="162A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sz="1300" b="1" dirty="0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Acc-7 (↑)</a:t>
                      </a:r>
                    </a:p>
                  </a:txBody>
                  <a:tcPr>
                    <a:solidFill>
                      <a:srgbClr val="162A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sz="1300" b="1" dirty="0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Acc-2 (↑)</a:t>
                      </a:r>
                    </a:p>
                  </a:txBody>
                  <a:tcPr>
                    <a:solidFill>
                      <a:srgbClr val="162A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sz="1300" b="1" dirty="0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F1 (↑)</a:t>
                      </a:r>
                    </a:p>
                  </a:txBody>
                  <a:tcPr>
                    <a:solidFill>
                      <a:srgbClr val="162A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sz="1300" b="1" dirty="0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MAE (↓)</a:t>
                      </a:r>
                    </a:p>
                  </a:txBody>
                  <a:tcPr>
                    <a:solidFill>
                      <a:srgbClr val="162A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sz="1300" b="1" dirty="0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Corr (↑)</a:t>
                      </a:r>
                    </a:p>
                  </a:txBody>
                  <a:tcPr>
                    <a:solidFill>
                      <a:srgbClr val="162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pPr algn="l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LF-DNN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33.6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78.0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77.9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0.978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0.658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pPr algn="l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Graph-MFN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34.4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77.9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77.8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0.939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0.656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pPr algn="l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MFM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33.3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77.7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77.7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0.948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0.664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pPr algn="l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MISA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43.5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81.8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81.7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0.752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0.784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pPr algn="l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Self-MM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45.8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82.7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82.6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0.731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0.785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pPr algn="l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MMIM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45.0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83.0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82.9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0.738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0.781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pPr algn="l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DMD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46.4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84.2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84.1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0.709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0.796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pPr algn="l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ITHP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47.7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86.1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86.1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0.663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0.856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pPr algn="l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MCL-MCF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84.9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84.7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0.692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0.799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pPr algn="l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ConFEDE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42.27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84.17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84.13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0.742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0.782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pPr algn="l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CLGSI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47.96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83.97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83.63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0.703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0.790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pPr algn="l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UniMSE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48.68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85.85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85.83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0.691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0.809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pPr algn="l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MGT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50.44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86.30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86.26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0.659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0.822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pPr algn="l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SACF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53.06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85.42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85.41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0.5840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0.8691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77227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"/>
          <p:cNvSpPr>
            <a:spLocks noGrp="1"/>
          </p:cNvSpPr>
          <p:nvPr/>
        </p:nvSpPr>
        <p:spPr>
          <a:xfrm>
            <a:off x="0" y="0"/>
            <a:ext cx="8754000" cy="631080"/>
          </a:xfrm>
          <a:prstGeom prst="rect">
            <a:avLst/>
          </a:prstGeom>
          <a:solidFill>
            <a:srgbClr val="162A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L"/>
          <p:cNvSpPr>
            <a:spLocks noGrp="1"/>
          </p:cNvSpPr>
          <p:nvPr/>
        </p:nvSpPr>
        <p:spPr>
          <a:xfrm>
            <a:off x="0" y="631080"/>
            <a:ext cx="8754000" cy="36576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T"/>
          <p:cNvSpPr txBox="1"/>
          <p:nvPr/>
        </p:nvSpPr>
        <p:spPr>
          <a:xfrm>
            <a:off x="328000" y="130000"/>
            <a:ext cx="8110000" cy="46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zh-TW" sz="2200" b="1" dirty="0">
                <a:solidFill>
                  <a:srgbClr val="FFFFFF"/>
                </a:solidFill>
                <a:latin typeface="PingFang TC"/>
                <a:ea typeface="PingFang TC"/>
              </a:rPr>
              <a:t>MMAFFBen 多任務情感分析評估</a:t>
            </a:r>
          </a:p>
        </p:txBody>
      </p:sp>
      <p:graphicFrame>
        <p:nvGraphicFramePr>
          <p:cNvPr id="20" name="DataTable"/>
          <p:cNvGraphicFramePr>
            <a:graphicFrameLocks noGrp="1"/>
          </p:cNvGraphicFramePr>
          <p:nvPr/>
        </p:nvGraphicFramePr>
        <p:xfrm>
          <a:off x="184000" y="720000"/>
          <a:ext cx="8400000" cy="4693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0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50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0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0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zh-TW" sz="1100" b="1" dirty="0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模型</a:t>
                      </a:r>
                    </a:p>
                  </a:txBody>
                  <a:tcPr>
                    <a:solidFill>
                      <a:srgbClr val="162A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sz="1100" b="1" dirty="0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參數量</a:t>
                      </a:r>
                    </a:p>
                  </a:txBody>
                  <a:tcPr>
                    <a:solidFill>
                      <a:srgbClr val="162A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sz="1100" b="1" dirty="0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EWECT-usual</a:t>
                      </a:r>
                    </a:p>
                  </a:txBody>
                  <a:tcPr>
                    <a:solidFill>
                      <a:srgbClr val="162A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sz="1100" b="1" dirty="0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EWECT-virus</a:t>
                      </a:r>
                    </a:p>
                  </a:txBody>
                  <a:tcPr>
                    <a:solidFill>
                      <a:srgbClr val="162A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sz="1100" b="1" dirty="0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Online shopping</a:t>
                      </a:r>
                    </a:p>
                  </a:txBody>
                  <a:tcPr>
                    <a:solidFill>
                      <a:srgbClr val="162A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sz="1100" b="1" dirty="0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MMS</a:t>
                      </a:r>
                    </a:p>
                  </a:txBody>
                  <a:tcPr>
                    <a:solidFill>
                      <a:srgbClr val="162A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sz="1100" b="1" dirty="0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XED</a:t>
                      </a:r>
                    </a:p>
                  </a:txBody>
                  <a:tcPr>
                    <a:solidFill>
                      <a:srgbClr val="162A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sz="1100" b="1" dirty="0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平均</a:t>
                      </a:r>
                    </a:p>
                  </a:txBody>
                  <a:tcPr>
                    <a:solidFill>
                      <a:srgbClr val="162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l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SACF （本研究）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0.435B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62.36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50.70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92.82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61.42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16.41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56.74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l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MMAFFLM-3b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3.0B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66.9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60.3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93.9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43.3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26.5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58.2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l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MMAFFLM-7b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7.0B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67.6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58.2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93.7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43.0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22.8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57.1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l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GPT-4o-mini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—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69.5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57.6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61.9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48.6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21.2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51.8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l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EmoLlama-chat-7b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7.0B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45.6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30.5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44.0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48.6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20.3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37.8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l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Llama3.2-11b-instruct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11.0B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42.30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35.80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57.40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37.50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20.0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38.60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l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Llama3.2-3b-instruct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3.0B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51.90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39.90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52.20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32.90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9.10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37.20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l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Llama3.2-1b-instruct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1.0B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24.20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18.00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49.10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30.90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18.7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28.2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l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InternVL2.5-8B-MPO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8.0B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51.10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35.70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56.20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31.40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12.5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37.4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0000">
                <a:tc>
                  <a:txBody>
                    <a:bodyPr/>
                    <a:lstStyle/>
                    <a:p>
                      <a:pPr algn="l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Qwen2.5-VL-7b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7.0B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46.30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38.10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56.20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31.30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12.8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1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36.9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252269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"/>
          <p:cNvSpPr>
            <a:spLocks noGrp="1"/>
          </p:cNvSpPr>
          <p:nvPr/>
        </p:nvSpPr>
        <p:spPr>
          <a:xfrm>
            <a:off x="0" y="0"/>
            <a:ext cx="8754000" cy="631080"/>
          </a:xfrm>
          <a:prstGeom prst="rect">
            <a:avLst/>
          </a:prstGeom>
          <a:solidFill>
            <a:srgbClr val="162A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L"/>
          <p:cNvSpPr>
            <a:spLocks noGrp="1"/>
          </p:cNvSpPr>
          <p:nvPr/>
        </p:nvSpPr>
        <p:spPr>
          <a:xfrm>
            <a:off x="0" y="631080"/>
            <a:ext cx="8754000" cy="36576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T"/>
          <p:cNvSpPr txBox="1"/>
          <p:nvPr/>
        </p:nvSpPr>
        <p:spPr>
          <a:xfrm>
            <a:off x="328000" y="130000"/>
            <a:ext cx="8110000" cy="46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zh-TW" sz="2200" b="1" dirty="0">
                <a:solidFill>
                  <a:srgbClr val="FFFFFF"/>
                </a:solidFill>
                <a:latin typeface="PingFang TC"/>
                <a:ea typeface="PingFang TC"/>
              </a:rPr>
              <a:t>CMU-MOSEI 跨資料集泛化評估</a:t>
            </a:r>
          </a:p>
        </p:txBody>
      </p:sp>
      <p:graphicFrame>
        <p:nvGraphicFramePr>
          <p:cNvPr id="20" name="DataTable"/>
          <p:cNvGraphicFramePr>
            <a:graphicFrameLocks noGrp="1"/>
          </p:cNvGraphicFramePr>
          <p:nvPr/>
        </p:nvGraphicFramePr>
        <p:xfrm>
          <a:off x="328000" y="720000"/>
          <a:ext cx="8109996" cy="44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1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16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16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16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16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zh-TW" sz="1300" b="1" dirty="0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模型</a:t>
                      </a:r>
                    </a:p>
                  </a:txBody>
                  <a:tcPr>
                    <a:solidFill>
                      <a:srgbClr val="162A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sz="1300" b="1" dirty="0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Acc-7 (↑)</a:t>
                      </a:r>
                    </a:p>
                  </a:txBody>
                  <a:tcPr>
                    <a:solidFill>
                      <a:srgbClr val="162A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sz="1300" b="1" dirty="0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Acc-2 (↑)</a:t>
                      </a:r>
                    </a:p>
                  </a:txBody>
                  <a:tcPr>
                    <a:solidFill>
                      <a:srgbClr val="162A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sz="1300" b="1" dirty="0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F1 (↑)</a:t>
                      </a:r>
                    </a:p>
                  </a:txBody>
                  <a:tcPr>
                    <a:solidFill>
                      <a:srgbClr val="162A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sz="1300" b="1" dirty="0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MAE (↓)</a:t>
                      </a:r>
                    </a:p>
                  </a:txBody>
                  <a:tcPr>
                    <a:solidFill>
                      <a:srgbClr val="162A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sz="1300" b="1" dirty="0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Corr (↑)</a:t>
                      </a:r>
                    </a:p>
                  </a:txBody>
                  <a:tcPr>
                    <a:solidFill>
                      <a:srgbClr val="162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pPr algn="l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LF-DNN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47.20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78.20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78.00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0.665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0.673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pPr algn="l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Graph-MFN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45.00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76.90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77.00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0.710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0.540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pPr algn="l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MFM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46.20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78.60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78.40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0.625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0.658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pPr algn="l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MFN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48.00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76.00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76.00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0.610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0.610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pPr algn="l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TFN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49.80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80.70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80.10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0.593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0.700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pPr algn="l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LMF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48.00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80.60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81.00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0.623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0.677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pPr algn="l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MulT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51.80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82.50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82.30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0.580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0.703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pPr algn="l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MISA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52.20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85.50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85.30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0.555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0.756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pPr algn="l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Self-MM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53.50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85.20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85.30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0.530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0.765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pPr algn="l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MMIM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54.20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85.97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85.94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0.526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0.772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pPr algn="l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DMD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54.60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86.00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86.00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0.516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0.781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pPr algn="l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UniMSE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54.40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87.50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87.40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0.523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0.773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pPr algn="l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MGT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55.10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87.00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87.00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0.502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0.804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0000">
                <a:tc>
                  <a:txBody>
                    <a:bodyPr/>
                    <a:lstStyle/>
                    <a:p>
                      <a:pPr algn="l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SACF （本研究）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55.49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85.64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85.87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0.4881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0.8243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646032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"/>
          <p:cNvSpPr>
            <a:spLocks noGrp="1"/>
          </p:cNvSpPr>
          <p:nvPr/>
        </p:nvSpPr>
        <p:spPr>
          <a:xfrm>
            <a:off x="0" y="0"/>
            <a:ext cx="8754000" cy="631080"/>
          </a:xfrm>
          <a:prstGeom prst="rect">
            <a:avLst/>
          </a:prstGeom>
          <a:solidFill>
            <a:srgbClr val="162A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L"/>
          <p:cNvSpPr>
            <a:spLocks noGrp="1"/>
          </p:cNvSpPr>
          <p:nvPr/>
        </p:nvSpPr>
        <p:spPr>
          <a:xfrm>
            <a:off x="0" y="631080"/>
            <a:ext cx="8754000" cy="36576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T"/>
          <p:cNvSpPr txBox="1"/>
          <p:nvPr/>
        </p:nvSpPr>
        <p:spPr>
          <a:xfrm>
            <a:off x="328000" y="130000"/>
            <a:ext cx="8110000" cy="46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zh-TW" sz="2200" b="1" dirty="0">
                <a:solidFill>
                  <a:srgbClr val="FFFFFF"/>
                </a:solidFill>
                <a:latin typeface="PingFang TC"/>
                <a:ea typeface="PingFang TC"/>
              </a:rPr>
              <a:t>SemEval-2018 三語言情感評估</a:t>
            </a:r>
          </a:p>
        </p:txBody>
      </p:sp>
      <p:graphicFrame>
        <p:nvGraphicFramePr>
          <p:cNvPr id="20" name="DataTable"/>
          <p:cNvGraphicFramePr>
            <a:graphicFrameLocks noGrp="1"/>
          </p:cNvGraphicFramePr>
          <p:nvPr/>
        </p:nvGraphicFramePr>
        <p:xfrm>
          <a:off x="328000" y="720000"/>
          <a:ext cx="8109996" cy="361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1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16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16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16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16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zh-TW" sz="1300" b="1" dirty="0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模型</a:t>
                      </a:r>
                    </a:p>
                  </a:txBody>
                  <a:tcPr>
                    <a:solidFill>
                      <a:srgbClr val="162A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sz="1300" b="1" dirty="0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參數量</a:t>
                      </a:r>
                    </a:p>
                  </a:txBody>
                  <a:tcPr>
                    <a:solidFill>
                      <a:srgbClr val="162A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sz="1300" b="1" dirty="0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EN 整體</a:t>
                      </a:r>
                    </a:p>
                  </a:txBody>
                  <a:tcPr>
                    <a:solidFill>
                      <a:srgbClr val="162A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sz="1300" b="1" dirty="0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AR 整體</a:t>
                      </a:r>
                    </a:p>
                  </a:txBody>
                  <a:tcPr>
                    <a:solidFill>
                      <a:srgbClr val="162A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sz="1300" b="1" dirty="0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ES 整體</a:t>
                      </a:r>
                    </a:p>
                  </a:txBody>
                  <a:tcPr>
                    <a:solidFill>
                      <a:srgbClr val="162A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sz="1300" b="1" dirty="0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全域整體</a:t>
                      </a:r>
                    </a:p>
                  </a:txBody>
                  <a:tcPr>
                    <a:solidFill>
                      <a:srgbClr val="162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pPr algn="l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SACF-Text（本研究）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0.435B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73.04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58.64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69.28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66.99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pPr algn="l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GPT-4o-mini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~8B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70.00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67.24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79.87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72.37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pPr algn="l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EmoLlama-chat-7b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7.0B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74.20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51.78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76.37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67.45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pPr algn="l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MMAFFLM-7b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7.0B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67.65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64.42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66.80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66.29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pPr algn="l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MMAFFLM-3b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3.0B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67.85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67.27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61.10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65.41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pPr algn="l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Mistral-7b-instruct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7.0B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60.62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53.42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43.34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52.46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pPr algn="l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Llama3.2-3b-instruct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3.0B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56.65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30.90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49.58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45.71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000">
                <a:tc>
                  <a:txBody>
                    <a:bodyPr/>
                    <a:lstStyle/>
                    <a:p>
                      <a:pPr algn="l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Llama3.2-1b-instruct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1.0B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28.88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16.98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18.33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21.39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746063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H"/>
          <p:cNvSpPr>
            <a:spLocks noGrp="1"/>
          </p:cNvSpPr>
          <p:nvPr/>
        </p:nvSpPr>
        <p:spPr>
          <a:xfrm>
            <a:off x="0" y="0"/>
            <a:ext cx="8754000" cy="631080"/>
          </a:xfrm>
          <a:prstGeom prst="rect">
            <a:avLst/>
          </a:prstGeom>
          <a:solidFill>
            <a:srgbClr val="162A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L"/>
          <p:cNvSpPr>
            <a:spLocks noGrp="1"/>
          </p:cNvSpPr>
          <p:nvPr/>
        </p:nvSpPr>
        <p:spPr>
          <a:xfrm>
            <a:off x="0" y="631080"/>
            <a:ext cx="8754000" cy="36576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T"/>
          <p:cNvSpPr txBox="1"/>
          <p:nvPr/>
        </p:nvSpPr>
        <p:spPr>
          <a:xfrm>
            <a:off x="328000" y="130000"/>
            <a:ext cx="8110000" cy="46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zh-TW" sz="2200" b="1" dirty="0">
                <a:solidFill>
                  <a:srgbClr val="FFFFFF"/>
                </a:solidFill>
                <a:latin typeface="PingFang TC"/>
                <a:ea typeface="PingFang TC"/>
              </a:rPr>
              <a:t>參數效率分析</a:t>
            </a:r>
          </a:p>
        </p:txBody>
      </p:sp>
      <p:graphicFrame>
        <p:nvGraphicFramePr>
          <p:cNvPr id="20" name="DataTable"/>
          <p:cNvGraphicFramePr>
            <a:graphicFrameLocks noGrp="1"/>
          </p:cNvGraphicFramePr>
          <p:nvPr/>
        </p:nvGraphicFramePr>
        <p:xfrm>
          <a:off x="328000" y="720000"/>
          <a:ext cx="8109996" cy="2939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6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1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16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16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516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516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zh-TW" sz="1300" b="1" dirty="0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模型</a:t>
                      </a:r>
                    </a:p>
                  </a:txBody>
                  <a:tcPr>
                    <a:solidFill>
                      <a:srgbClr val="162A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sz="1300" b="1" dirty="0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參數量</a:t>
                      </a:r>
                    </a:p>
                  </a:txBody>
                  <a:tcPr>
                    <a:solidFill>
                      <a:srgbClr val="162A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sz="1300" b="1" dirty="0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SemEval 整體</a:t>
                      </a:r>
                    </a:p>
                  </a:txBody>
                  <a:tcPr>
                    <a:solidFill>
                      <a:srgbClr val="162A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sz="1300" b="1" dirty="0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SemEval 效率/B</a:t>
                      </a:r>
                    </a:p>
                  </a:txBody>
                  <a:tcPr>
                    <a:solidFill>
                      <a:srgbClr val="162A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sz="1300" b="1" dirty="0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MMAFFBen 平均</a:t>
                      </a:r>
                    </a:p>
                  </a:txBody>
                  <a:tcPr>
                    <a:solidFill>
                      <a:srgbClr val="162A4D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zh-TW" sz="1300" b="1" dirty="0">
                          <a:solidFill>
                            <a:srgbClr val="FFFFFF"/>
                          </a:solidFill>
                          <a:latin typeface="PingFang TC"/>
                          <a:ea typeface="PingFang TC"/>
                        </a:rPr>
                        <a:t>MMAFFBen 效率/B</a:t>
                      </a:r>
                    </a:p>
                  </a:txBody>
                  <a:tcPr>
                    <a:solidFill>
                      <a:srgbClr val="162A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SACF-Text（本研究）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0.435B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66.99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154.0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55.50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127.6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MMAFFLM-3b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3.0B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65.41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21.8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58.22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19.4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EmoLlama-chat-7b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7.0B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67.45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9.6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39.00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5.6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MMAFFLM-7b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7.0B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66.29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9.5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58.96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8.4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GPT-4o-mini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~8B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72.37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~9.0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50.02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~6.3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algn="l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Llama3.2-3b-instruct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3.0B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45.71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15.2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37.80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TW" sz="1200" b="0" dirty="0">
                          <a:solidFill>
                            <a:srgbClr val="1A1A2E"/>
                          </a:solidFill>
                          <a:latin typeface="PingFang TC"/>
                          <a:ea typeface="PingFang TC"/>
                        </a:rPr>
                        <a:t>12.6</a:t>
                      </a:r>
                    </a:p>
                  </a:txBody>
                  <a:tcPr>
                    <a:solidFill>
                      <a:srgbClr val="EBF0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32574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0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0"/>
            <a:ext cx="3291840" cy="1828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CHAPTER</a:t>
            </a:r>
          </a:p>
          <a:p>
            <a:pPr algn="l"/>
            <a:r>
              <a:rPr sz="110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17720" y="2331720"/>
            <a:ext cx="7040880" cy="1097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情緒感知多代理模擬系統</a:t>
            </a:r>
          </a:p>
          <a:p>
            <a:pPr algn="l"/>
            <a:r>
              <a:rPr sz="1600" b="0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Application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3794760"/>
            <a:ext cx="704088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▸ </a:t>
            </a:r>
            <a:r>
              <a:rPr sz="1600" b="0">
                <a:solidFill>
                  <a:srgbClr val="D9E2F0"/>
                </a:solidFill>
                <a:latin typeface="PingFang TC"/>
                <a:ea typeface="PingFang TC"/>
                <a:cs typeface="PingFang TC"/>
              </a:rPr>
              <a:t>感知-思考-行動-情緒 認知循環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4251960"/>
            <a:ext cx="704088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▸ </a:t>
            </a:r>
            <a:r>
              <a:rPr sz="1600" b="0">
                <a:solidFill>
                  <a:srgbClr val="D9E2F0"/>
                </a:solidFill>
                <a:latin typeface="PingFang TC"/>
                <a:ea typeface="PingFang TC"/>
                <a:cs typeface="PingFang TC"/>
              </a:rPr>
              <a:t>三維記憶 × 七類情緒子系統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4709160"/>
            <a:ext cx="704088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▸ </a:t>
            </a:r>
            <a:r>
              <a:rPr sz="1600" b="0">
                <a:solidFill>
                  <a:srgbClr val="D9E2F0"/>
                </a:solidFill>
                <a:latin typeface="PingFang TC"/>
                <a:ea typeface="PingFang TC"/>
                <a:cs typeface="PingFang TC"/>
              </a:rPr>
              <a:t>系統畫面實際展示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SACF · 李昇峰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914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28</a:t>
            </a:r>
          </a:p>
        </p:txBody>
      </p:sp>
    </p:spTree>
    <p:extLst>
      <p:ext uri="{BB962C8B-B14F-4D97-AF65-F5344CB8AC3E}">
        <p14:creationId xmlns:p14="http://schemas.microsoft.com/office/powerpoint/2010/main" val="28295824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第五章 · 系統架構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"/>
            <a:ext cx="1133856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認知循環：在生成式代理上延伸情緒感知層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106424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5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承襲 Park 等人生成式代理（記憶流 / 反思 / 規劃），</a:t>
            </a:r>
            <a:r>
              <a:rPr sz="1500" b="1">
                <a:solidFill>
                  <a:srgbClr val="162A4D"/>
                </a:solidFill>
                <a:latin typeface="PingFang TC"/>
                <a:ea typeface="PingFang TC"/>
                <a:cs typeface="PingFang TC"/>
              </a:rPr>
              <a:t>新增「情緒（Emotion）」階段，並在地化為中文（Qwen2.5:32b 本地推理）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828800"/>
            <a:ext cx="21031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40080" y="1828800"/>
            <a:ext cx="2103120" cy="566928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1828800"/>
            <a:ext cx="210312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感知
Percept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87168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視野範圍掃描
重要性閾值過濾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1828800"/>
            <a:ext cx="164592" cy="1371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▶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07792" y="1828800"/>
            <a:ext cx="21031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907792" y="1828800"/>
            <a:ext cx="2103120" cy="566928"/>
          </a:xfrm>
          <a:prstGeom prst="roundRect">
            <a:avLst/>
          </a:prstGeom>
          <a:solidFill>
            <a:srgbClr val="1284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907792" y="1828800"/>
            <a:ext cx="210312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思考
Think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7792" y="2487168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記憶檢索
反思生成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10912" y="1828800"/>
            <a:ext cx="164592" cy="1371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75504" y="1828800"/>
            <a:ext cx="21031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175504" y="1828800"/>
            <a:ext cx="2103120" cy="566928"/>
          </a:xfrm>
          <a:prstGeom prst="round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175504" y="1828800"/>
            <a:ext cx="210312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規劃
Plan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75504" y="2487168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結合特徵目標
生成行動序列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78624" y="1828800"/>
            <a:ext cx="164592" cy="1371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43216" y="1828800"/>
            <a:ext cx="21031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7443216" y="1828800"/>
            <a:ext cx="2103120" cy="566928"/>
          </a:xfrm>
          <a:prstGeom prst="round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43216" y="1828800"/>
            <a:ext cx="210312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行動
Act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43216" y="2487168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環境互動
對話輸出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46336" y="1828800"/>
            <a:ext cx="164592" cy="137160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13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▶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10928" y="1828800"/>
            <a:ext cx="21031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9710928" y="1828800"/>
            <a:ext cx="2103120" cy="566928"/>
          </a:xfrm>
          <a:prstGeom prst="roundRect">
            <a:avLst/>
          </a:prstGeom>
          <a:solidFill>
            <a:srgbClr val="D6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9710928" y="1828800"/>
            <a:ext cx="210312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>
              <a:lnSpc>
                <a:spcPct val="95000"/>
              </a:lnSpc>
            </a:pPr>
            <a:r>
              <a:rPr sz="14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情緒
Emotion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10928" y="2487168"/>
            <a:ext cx="2103120" cy="685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lnSpc>
                <a:spcPct val="105000"/>
              </a:lnSpc>
            </a:pPr>
            <a:r>
              <a:rPr sz="12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情緒表徵/衰減
行為調節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3520440"/>
            <a:ext cx="11064240" cy="2743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500" b="1">
                <a:solidFill>
                  <a:srgbClr val="162A4D"/>
                </a:solidFill>
                <a:latin typeface="PingFang TC"/>
                <a:ea typeface="PingFang TC"/>
                <a:cs typeface="PingFang TC"/>
              </a:rPr>
              <a:t>相較原始框架的四項主要延伸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5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4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將 SACF 跨模態情感分析模型嵌入感知模組 → 感知他人言談、表情、語氣中的情感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5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4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認知循環新增情緒階段 → 內在情緒狀態的表徵、衰減與行為調節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5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4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調整提示工程模板 → 調節代理行動與行為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45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4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在地化為中文語境 → 採本地模型 Qwen2.5:32b 作為核心推理引擎</a:t>
            </a:r>
          </a:p>
          <a:p>
            <a:pPr algn="l">
              <a:spcBef>
                <a:spcPts val="800"/>
              </a:spcBef>
            </a:pPr>
            <a:r>
              <a:rPr sz="1350" b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五大組件：智能體核心引擎 · 記憶與情感管理 · 環境建模 · 語言模型介面 · 視覺化分析工具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SACF · 李昇峰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65760" y="6446520"/>
            <a:ext cx="914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29</a:t>
            </a:r>
          </a:p>
        </p:txBody>
      </p:sp>
    </p:spTree>
    <p:extLst>
      <p:ext uri="{BB962C8B-B14F-4D97-AF65-F5344CB8AC3E}">
        <p14:creationId xmlns:p14="http://schemas.microsoft.com/office/powerpoint/2010/main" val="61802108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第五章 · 核心子系統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"/>
            <a:ext cx="1133856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三維記憶管理　×　七類情緒狀態管理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5440680" cy="484632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76200" cy="484632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3232" y="1325880"/>
            <a:ext cx="5166360" cy="46634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記憶管理系統（仿人類多層記憶）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三類記憶：觀察記憶 · 反思記憶 · 對話記憶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endParaRPr sz="1250" b="0">
              <a:solidFill>
                <a:srgbClr val="222A38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三維檢索評分（加權組合，權重 α 皆=1）：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　• 重要性：LLM 對事件 1–10 分評估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　　（刷牙低分 / 分手升學高分）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　• 時效性：指數衰減，衰減因子 0.995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　• 相關性：查詢與記憶的嵌入餘弦相似度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endParaRPr sz="1250" b="0">
              <a:solidFill>
                <a:srgbClr val="222A38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動態更新：訪問即更新時間戳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定期清理：預設記憶保存 30 天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→ 既優先近期情感記憶，又不喪失重要事件追蹤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234440"/>
            <a:ext cx="5440680" cy="484632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72200" y="1234440"/>
            <a:ext cx="76200" cy="4846320"/>
          </a:xfrm>
          <a:prstGeom prst="rect">
            <a:avLst/>
          </a:prstGeom>
          <a:solidFill>
            <a:srgbClr val="D6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1325880"/>
            <a:ext cx="5166360" cy="46634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D63A3A"/>
                </a:solidFill>
                <a:latin typeface="PingFang TC"/>
                <a:ea typeface="PingFang TC"/>
                <a:cs typeface="PingFang TC"/>
              </a:rPr>
              <a:t>情緒子系統（表徵→感知→生成→衰減→作用）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七類離散情緒：憤怒/厭惡/恐懼/喜悅/中性/悲傷/驚訝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　強度 0~1 連續尺度，記錄原因與持續時間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endParaRPr sz="1250" b="0">
              <a:solidFill>
                <a:srgbClr val="222A38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跨模態情感感知：SACF 整合語言/語音/視覺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　降級路徑：僅文字 → LLM 文字推測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　強度—類別投影：對應七類離散情緒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endParaRPr sz="1250" b="0">
              <a:solidFill>
                <a:srgbClr val="222A38"/>
              </a:solidFill>
              <a:latin typeface="PingFang TC"/>
              <a:ea typeface="PingFang TC"/>
              <a:cs typeface="PingFang TC"/>
            </a:endParaRP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生成更新：候選情緒需達觸發閾值才轉換（慣性）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自然衰減：固定速率遞減，低於門檻回歸中性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作用範圍：記憶形成/檢索、對話語氣、規劃偏好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SACF · 李昇峰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914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30</a:t>
            </a:r>
          </a:p>
        </p:txBody>
      </p:sp>
    </p:spTree>
    <p:extLst>
      <p:ext uri="{BB962C8B-B14F-4D97-AF65-F5344CB8AC3E}">
        <p14:creationId xmlns:p14="http://schemas.microsoft.com/office/powerpoint/2010/main" val="308797647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第五章 · 系統展示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"/>
            <a:ext cx="1133856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畫面展示（二）：智能問卷調查系統</a:t>
            </a:r>
          </a:p>
        </p:txBody>
      </p:sp>
      <p:pic>
        <p:nvPicPr>
          <p:cNvPr id="7" name="Picture 6" descr="image1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9676" y="1280160"/>
            <a:ext cx="6502167" cy="1554480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57200" y="2852928"/>
            <a:ext cx="11247120" cy="292608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150" b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問卷管理系統：支援建立 / 複製 / 批量操作 / 版本管理 / AI 自動填寫</a:t>
            </a:r>
          </a:p>
        </p:txBody>
      </p:sp>
      <p:pic>
        <p:nvPicPr>
          <p:cNvPr id="9" name="Picture 8" descr="image1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12334" y="3200400"/>
            <a:ext cx="5370691" cy="3108960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457200" y="6355080"/>
            <a:ext cx="768096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100" b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社區居民情緒感知問卷：基於情緒記憶與互動歷史自動填答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291840"/>
            <a:ext cx="3383280" cy="30175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450" b="1">
                <a:solidFill>
                  <a:srgbClr val="162A4D"/>
                </a:solidFill>
                <a:latin typeface="PingFang TC"/>
                <a:ea typeface="PingFang TC"/>
                <a:cs typeface="PingFang TC"/>
              </a:rPr>
              <a:t>AI 智能問卷新範式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3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單選/多選/評分/開放文字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3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整合情緒記憶檢索自動填答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3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回應一致且可追溯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3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可反覆採樣支援假設驗證</a:t>
            </a:r>
          </a:p>
          <a:p>
            <a:pPr algn="l">
              <a:lnSpc>
                <a:spcPct val="112000"/>
              </a:lnSpc>
              <a:spcAft>
                <a:spcPts val="1000"/>
              </a:spcAft>
            </a:pPr>
            <a:r>
              <a:rPr sz="1300" b="1">
                <a:solidFill>
                  <a:srgbClr val="1F6FB2"/>
                </a:solidFill>
                <a:latin typeface="PingFang TC"/>
                <a:ea typeface="PingFang TC"/>
                <a:cs typeface="PingFang TC"/>
              </a:rPr>
              <a:t>▪ </a:t>
            </a:r>
            <a:r>
              <a:rPr sz="130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匯出 CSV / JSON / Excel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SACF · 李昇峰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914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32</a:t>
            </a:r>
          </a:p>
        </p:txBody>
      </p:sp>
    </p:spTree>
    <p:extLst>
      <p:ext uri="{BB962C8B-B14F-4D97-AF65-F5344CB8AC3E}">
        <p14:creationId xmlns:p14="http://schemas.microsoft.com/office/powerpoint/2010/main" val="425483791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第五章 · 系統展示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"/>
            <a:ext cx="1133856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畫面展示（一）：社交網絡與角色資料</a:t>
            </a:r>
          </a:p>
        </p:txBody>
      </p:sp>
      <p:pic>
        <p:nvPicPr>
          <p:cNvPr id="7" name="Picture 6" descr="image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418472"/>
            <a:ext cx="5394960" cy="3746736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457200" y="5349240"/>
            <a:ext cx="539496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150" b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居民關係力導向圖（節點大小=活躍度，連線粗細=互動頻率）</a:t>
            </a:r>
          </a:p>
        </p:txBody>
      </p:sp>
      <p:pic>
        <p:nvPicPr>
          <p:cNvPr id="9" name="Picture 8" descr="image1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0" y="1647036"/>
            <a:ext cx="5577840" cy="3289608"/>
          </a:xfrm>
          <a:prstGeom prst="rect">
            <a:avLst/>
          </a:prstGeom>
          <a:ln w="9525">
            <a:solidFill>
              <a:srgbClr val="C9D3E0"/>
            </a:solidFill>
          </a:ln>
        </p:spPr>
      </p:pic>
      <p:sp>
        <p:nvSpPr>
          <p:cNvPr id="10" name="TextBox 9"/>
          <p:cNvSpPr txBox="1"/>
          <p:nvPr/>
        </p:nvSpPr>
        <p:spPr>
          <a:xfrm>
            <a:off x="6126480" y="5349240"/>
            <a:ext cx="5577840" cy="36576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150" b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角色詳細資料：人格特質 · 情緒狀態 · 社交關係統計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300" b="1">
                <a:solidFill>
                  <a:srgbClr val="162A4D"/>
                </a:solidFill>
                <a:latin typeface="PingFang TC"/>
                <a:ea typeface="PingFang TC"/>
                <a:cs typeface="PingFang TC"/>
              </a:rPr>
              <a:t>力導向圖 + 對話長度矩陣熱力圖 + 行為時間軸 + 情感狀態變化圖，為湧現行為提供量化分析。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SACF · 李昇峰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914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31</a:t>
            </a:r>
          </a:p>
        </p:txBody>
      </p:sp>
    </p:spTree>
    <p:extLst>
      <p:ext uri="{BB962C8B-B14F-4D97-AF65-F5344CB8AC3E}">
        <p14:creationId xmlns:p14="http://schemas.microsoft.com/office/powerpoint/2010/main" val="42013448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020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286000"/>
            <a:ext cx="3291840" cy="182880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CHAPTER</a:t>
            </a:r>
          </a:p>
          <a:p>
            <a:pPr algn="l"/>
            <a:r>
              <a:rPr sz="110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17720" y="2331720"/>
            <a:ext cx="7040880" cy="1097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結論與貢獻</a:t>
            </a:r>
          </a:p>
          <a:p>
            <a:pPr algn="l"/>
            <a:r>
              <a:rPr sz="1600" b="0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Conclusion &amp; Contributions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17720" y="3794760"/>
            <a:ext cx="704088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▸ </a:t>
            </a:r>
            <a:r>
              <a:rPr sz="1600" b="0">
                <a:solidFill>
                  <a:srgbClr val="D9E2F0"/>
                </a:solidFill>
                <a:latin typeface="PingFang TC"/>
                <a:ea typeface="PingFang TC"/>
                <a:cs typeface="PingFang TC"/>
              </a:rPr>
              <a:t>研究成果總結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17720" y="4251960"/>
            <a:ext cx="704088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▸ </a:t>
            </a:r>
            <a:r>
              <a:rPr sz="1600" b="0">
                <a:solidFill>
                  <a:srgbClr val="D9E2F0"/>
                </a:solidFill>
                <a:latin typeface="PingFang TC"/>
                <a:ea typeface="PingFang TC"/>
                <a:cs typeface="PingFang TC"/>
              </a:rPr>
              <a:t>三大主要貢獻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17720" y="4709160"/>
            <a:ext cx="7040880" cy="4114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600" b="1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▸ </a:t>
            </a:r>
            <a:r>
              <a:rPr sz="1600" b="0">
                <a:solidFill>
                  <a:srgbClr val="D9E2F0"/>
                </a:solidFill>
                <a:latin typeface="PingFang TC"/>
                <a:ea typeface="PingFang TC"/>
                <a:cs typeface="PingFang TC"/>
              </a:rPr>
              <a:t>研究限制與未來展望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SACF · 李昇峰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914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33</a:t>
            </a:r>
          </a:p>
        </p:txBody>
      </p:sp>
    </p:spTree>
    <p:extLst>
      <p:ext uri="{BB962C8B-B14F-4D97-AF65-F5344CB8AC3E}">
        <p14:creationId xmlns:p14="http://schemas.microsoft.com/office/powerpoint/2010/main" val="194880307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第六章 · 主要貢獻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"/>
            <a:ext cx="1133856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三大主要貢獻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1106424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1280160"/>
            <a:ext cx="1828800" cy="1325880"/>
          </a:xfrm>
          <a:prstGeom prst="round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280160"/>
            <a:ext cx="1828800" cy="1325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貢獻一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1444752"/>
            <a:ext cx="8778240" cy="1005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情感顯著詞元驅動的跨模態融合新範式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以 sentiment-salient tokens 構建情感感知查詢，使跨模態注意力聚焦於與情感極性最相關的語意單元。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761488"/>
            <a:ext cx="1106424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548640" y="2761488"/>
            <a:ext cx="1828800" cy="1325880"/>
          </a:xfrm>
          <a:prstGeom prst="roundRect">
            <a:avLst/>
          </a:prstGeom>
          <a:solidFill>
            <a:srgbClr val="1284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48640" y="2761488"/>
            <a:ext cx="1828800" cy="1325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貢獻二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2926080"/>
            <a:ext cx="8778240" cy="1005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適用序數情感標籤的多工損失與零洩漏推斷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序數 EMD + 軟序數標籤 + R-Drop + InfoNCE 兼顧分類與回歸；融合超參數先驗設定，嚴格避免測試時資訊洩漏。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242816"/>
            <a:ext cx="11064240" cy="13258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548640" y="4242816"/>
            <a:ext cx="1828800" cy="1325880"/>
          </a:xfrm>
          <a:prstGeom prst="roundRect">
            <a:avLst/>
          </a:prstGeom>
          <a:solidFill>
            <a:srgbClr val="D6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48640" y="4242816"/>
            <a:ext cx="1828800" cy="1325880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貢獻三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06040" y="4407408"/>
            <a:ext cx="8778240" cy="10058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700" b="1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系統性驗證跨語言、跨任務的廣泛適用性</a:t>
            </a: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於 MMAFFBen、SemEval-2018、CMU-MOSEI 驗證強泛化與優異參數效率，並落地為情緒感知多代理模擬系統。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SACF · 李昇峰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446520"/>
            <a:ext cx="914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34</a:t>
            </a:r>
          </a:p>
        </p:txBody>
      </p:sp>
    </p:spTree>
    <p:extLst>
      <p:ext uri="{BB962C8B-B14F-4D97-AF65-F5344CB8AC3E}">
        <p14:creationId xmlns:p14="http://schemas.microsoft.com/office/powerpoint/2010/main" val="163370880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5080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91440"/>
            <a:ext cx="3657600" cy="2743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300" b="1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第六章 · 總結與展望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0896"/>
            <a:ext cx="11338560" cy="566928"/>
          </a:xfrm>
          <a:prstGeom prst="rect">
            <a:avLst/>
          </a:prstGeom>
          <a:noFill/>
        </p:spPr>
        <p:txBody>
          <a:bodyPr wrap="square" lIns="25400" tIns="25400" rIns="25400" bIns="25400" anchor="ctr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研究成果總結　與　限制及未來展望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34440"/>
            <a:ext cx="260604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2606040" cy="63500"/>
          </a:xfrm>
          <a:prstGeom prst="rect">
            <a:avLst/>
          </a:prstGeom>
          <a:solidFill>
            <a:srgbClr val="D63A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344168"/>
            <a:ext cx="260604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2700" b="1">
                <a:solidFill>
                  <a:srgbClr val="D63A3A"/>
                </a:solidFill>
                <a:latin typeface="Arial"/>
                <a:ea typeface="Arial"/>
                <a:cs typeface="Arial"/>
              </a:rPr>
              <a:t>53.06%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1837944"/>
            <a:ext cx="260604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CMU-MOSI Acc-7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234440"/>
            <a:ext cx="260604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37560" y="1234440"/>
            <a:ext cx="2606040" cy="63500"/>
          </a:xfrm>
          <a:prstGeom prst="rect">
            <a:avLst/>
          </a:prstGeom>
          <a:solidFill>
            <a:srgbClr val="1F6FB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37560" y="1344168"/>
            <a:ext cx="260604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2700" b="1">
                <a:solidFill>
                  <a:srgbClr val="1F6FB2"/>
                </a:solidFill>
                <a:latin typeface="Arial"/>
                <a:ea typeface="Arial"/>
                <a:cs typeface="Arial"/>
              </a:rPr>
              <a:t>55.49%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1837944"/>
            <a:ext cx="260604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CMU-MOSEI Acc-7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1234440"/>
            <a:ext cx="260604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26480" y="1234440"/>
            <a:ext cx="2606040" cy="63500"/>
          </a:xfrm>
          <a:prstGeom prst="rect">
            <a:avLst/>
          </a:prstGeom>
          <a:solidFill>
            <a:srgbClr val="1284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26480" y="1344168"/>
            <a:ext cx="260604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2700" b="1">
                <a:solidFill>
                  <a:srgbClr val="12848D"/>
                </a:solidFill>
                <a:latin typeface="Arial"/>
                <a:ea typeface="Arial"/>
                <a:cs typeface="Arial"/>
              </a:rPr>
              <a:t>154 分/B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1837944"/>
            <a:ext cx="260604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SemEval 參數效率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15400" y="1234440"/>
            <a:ext cx="2697480" cy="96012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915400" y="1234440"/>
            <a:ext cx="2697480" cy="6350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915400" y="1344168"/>
            <a:ext cx="2697480" cy="50292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2700" b="1">
                <a:solidFill>
                  <a:srgbClr val="E09F3E"/>
                </a:solidFill>
                <a:latin typeface="Arial"/>
                <a:ea typeface="Arial"/>
                <a:cs typeface="Arial"/>
              </a:rPr>
              <a:t>9 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15400" y="1837944"/>
            <a:ext cx="269748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/>
            <a:r>
              <a:rPr sz="12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情緒感知 AI 居民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2514600"/>
            <a:ext cx="5440680" cy="3566160"/>
          </a:xfrm>
          <a:prstGeom prst="roundRect">
            <a:avLst/>
          </a:prstGeom>
          <a:solidFill>
            <a:srgbClr val="F0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2514600"/>
            <a:ext cx="76200" cy="3566160"/>
          </a:xfrm>
          <a:prstGeom prst="rect">
            <a:avLst/>
          </a:prstGeom>
          <a:solidFill>
            <a:srgbClr val="555B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13232" y="2606040"/>
            <a:ext cx="5166360" cy="3383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研究限制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硬體資源：單一 LLM 並行，居民限 9 位以內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語言模型能力邊界：複合/矛盾情緒仍受限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封閉系統：9 個固定角色，外部效度需謹慎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觀察時程有限：長期情感演化難以充分驗證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Acc-7 53.06% 仍有空間（標記主觀不一致的天花板效應）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2514600"/>
            <a:ext cx="5440680" cy="3566160"/>
          </a:xfrm>
          <a:prstGeom prst="roundRect">
            <a:avLst/>
          </a:prstGeom>
          <a:solidFill>
            <a:srgbClr val="EAF1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72200" y="2514600"/>
            <a:ext cx="76200" cy="3566160"/>
          </a:xfrm>
          <a:prstGeom prst="rect">
            <a:avLst/>
          </a:prstGeom>
          <a:solidFill>
            <a:srgbClr val="12848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336792" y="2606040"/>
            <a:ext cx="5166360" cy="3383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>
              <a:spcAft>
                <a:spcPts val="500"/>
              </a:spcAft>
            </a:pPr>
            <a:r>
              <a:rPr sz="1500" b="1">
                <a:solidFill>
                  <a:srgbClr val="12848D"/>
                </a:solidFill>
                <a:latin typeface="PingFang TC"/>
                <a:ea typeface="PingFang TC"/>
                <a:cs typeface="PingFang TC"/>
              </a:rPr>
              <a:t>未來展望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更大規模預訓練語言模型與跨模態預訓練資料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多語多標籤骨幹改善 AR / XED 等弱項任務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擴大代理數量與更長觀察週期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教育輔助、心理健康、市場研究、社會政策評估</a:t>
            </a:r>
          </a:p>
          <a:p>
            <a:pPr algn="l">
              <a:lnSpc>
                <a:spcPct val="108000"/>
              </a:lnSpc>
              <a:spcAft>
                <a:spcPts val="300"/>
              </a:spcAft>
            </a:pPr>
            <a:r>
              <a:rPr sz="1250" b="0">
                <a:solidFill>
                  <a:srgbClr val="222A38"/>
                </a:solidFill>
                <a:latin typeface="PingFang TC"/>
                <a:ea typeface="PingFang TC"/>
                <a:cs typeface="PingFang TC"/>
              </a:rPr>
              <a:t>情感感知計算社會科學的新方法論框架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SACF · 李昇峰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914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35</a:t>
            </a:r>
          </a:p>
        </p:txBody>
      </p:sp>
    </p:spTree>
    <p:extLst>
      <p:ext uri="{BB962C8B-B14F-4D97-AF65-F5344CB8AC3E}">
        <p14:creationId xmlns:p14="http://schemas.microsoft.com/office/powerpoint/2010/main" val="164031813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A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468880"/>
            <a:ext cx="12191695" cy="5080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4297680"/>
            <a:ext cx="12191695" cy="50800"/>
          </a:xfrm>
          <a:prstGeom prst="rect">
            <a:avLst/>
          </a:prstGeom>
          <a:solidFill>
            <a:srgbClr val="E09F3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2697480"/>
            <a:ext cx="11064240" cy="1463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Aft>
                <a:spcPts val="1000"/>
              </a:spcAft>
            </a:pPr>
            <a:r>
              <a:rPr sz="5200" b="1">
                <a:solidFill>
                  <a:srgbClr val="FFFFFF"/>
                </a:solidFill>
                <a:latin typeface="PingFang TC"/>
                <a:ea typeface="PingFang TC"/>
                <a:cs typeface="PingFang TC"/>
              </a:rPr>
              <a:t>敬請指教</a:t>
            </a:r>
          </a:p>
          <a:p>
            <a:pPr algn="ctr"/>
            <a:r>
              <a:rPr sz="2200" b="0">
                <a:solidFill>
                  <a:srgbClr val="E09F3E"/>
                </a:solidFill>
                <a:latin typeface="PingFang TC"/>
                <a:ea typeface="PingFang TC"/>
                <a:cs typeface="PingFang TC"/>
              </a:rPr>
              <a:t>Thank You　|　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754880"/>
            <a:ext cx="11064240" cy="109728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>
                <a:solidFill>
                  <a:srgbClr val="D9E2F0"/>
                </a:solidFill>
                <a:latin typeface="PingFang TC"/>
                <a:ea typeface="PingFang TC"/>
                <a:cs typeface="PingFang TC"/>
              </a:rPr>
              <a:t>研究生：李昇峰　　指導教授：高君豪 教授</a:t>
            </a:r>
          </a:p>
          <a:p>
            <a:pPr algn="ctr"/>
            <a:r>
              <a:rPr sz="1300" b="0">
                <a:solidFill>
                  <a:srgbClr val="AEBCD4"/>
                </a:solidFill>
                <a:latin typeface="PingFang TC"/>
                <a:ea typeface="PingFang TC"/>
                <a:cs typeface="PingFang TC"/>
              </a:rPr>
              <a:t>淡江大學 統計與資料科學碩士班　·　中華民國 115 年 6 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0" y="6446520"/>
            <a:ext cx="128016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r"/>
            <a:r>
              <a:rPr sz="900" b="0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SACF · 李昇峰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914400" cy="320040"/>
          </a:xfrm>
          <a:prstGeom prst="rect">
            <a:avLst/>
          </a:prstGeom>
          <a:noFill/>
        </p:spPr>
        <p:txBody>
          <a:bodyPr wrap="square" lIns="25400" tIns="25400" rIns="25400" bIns="25400" anchor="t">
            <a:spAutoFit/>
          </a:bodyPr>
          <a:lstStyle/>
          <a:p>
            <a:pPr algn="l"/>
            <a:r>
              <a:rPr sz="1000" b="1">
                <a:solidFill>
                  <a:srgbClr val="555B66"/>
                </a:solidFill>
                <a:latin typeface="PingFang TC"/>
                <a:ea typeface="PingFang TC"/>
                <a:cs typeface="PingFang TC"/>
              </a:rPr>
              <a:t>36</a:t>
            </a:r>
          </a:p>
        </p:txBody>
      </p:sp>
    </p:spTree>
    <p:extLst>
      <p:ext uri="{BB962C8B-B14F-4D97-AF65-F5344CB8AC3E}">
        <p14:creationId xmlns:p14="http://schemas.microsoft.com/office/powerpoint/2010/main" val="8290283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ar"/>
          <p:cNvSpPr>
            <a:spLocks noGrp="1"/>
          </p:cNvSpPr>
          <p:nvPr/>
        </p:nvSpPr>
        <p:spPr>
          <a:xfrm>
            <a:off x="0" y="0"/>
            <a:ext cx="8754000" cy="655800"/>
          </a:xfrm>
          <a:prstGeom prst="rect">
            <a:avLst/>
          </a:prstGeom>
          <a:solidFill>
            <a:srgbClr val="162A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AccentLine"/>
          <p:cNvSpPr>
            <a:spLocks noGrp="1"/>
          </p:cNvSpPr>
          <p:nvPr/>
        </p:nvSpPr>
        <p:spPr>
          <a:xfrm>
            <a:off x="0" y="655800"/>
            <a:ext cx="8754000" cy="36576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SectionLabel"/>
          <p:cNvSpPr txBox="1">
            <a:spLocks noGrp="1"/>
          </p:cNvSpPr>
          <p:nvPr/>
        </p:nvSpPr>
        <p:spPr>
          <a:xfrm>
            <a:off x="328000" y="63500"/>
            <a:ext cx="4500000" cy="2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zh-TW" sz="1300" b="1" dirty="0">
                <a:solidFill>
                  <a:srgbClr val="E09F3E"/>
                </a:solidFill>
                <a:latin typeface="PingFang TC"/>
                <a:ea typeface="PingFang TC"/>
              </a:rPr>
              <a:t>結論與貢獻</a:t>
            </a:r>
          </a:p>
        </p:txBody>
      </p:sp>
      <p:sp>
        <p:nvSpPr>
          <p:cNvPr id="103" name="SlideTitle"/>
          <p:cNvSpPr txBox="1">
            <a:spLocks noGrp="1"/>
          </p:cNvSpPr>
          <p:nvPr/>
        </p:nvSpPr>
        <p:spPr>
          <a:xfrm>
            <a:off x="328000" y="218000"/>
            <a:ext cx="8146000" cy="41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zh-TW" sz="2500" b="1" dirty="0">
                <a:solidFill>
                  <a:srgbClr val="FFFFFF"/>
                </a:solidFill>
                <a:latin typeface="PingFang TC"/>
                <a:ea typeface="PingFang TC"/>
              </a:rPr>
              <a:t>研究成果圖示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18DE1C3B-7EC5-06A5-F957-B7754088C7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825500"/>
            <a:ext cx="11176000" cy="2667000"/>
          </a:xfrm>
          <a:prstGeom prst="rect">
            <a:avLst/>
          </a:prstGeom>
        </p:spPr>
      </p:pic>
      <p:sp>
        <p:nvSpPr>
          <p:cNvPr id="104" name="Caption"/>
          <p:cNvSpPr txBox="1"/>
          <p:nvPr/>
        </p:nvSpPr>
        <p:spPr>
          <a:xfrm>
            <a:off x="1016000" y="3619500"/>
            <a:ext cx="10160000" cy="304800"/>
          </a:xfrm>
          <a:prstGeom prst="rect">
            <a:avLst/>
          </a:prstGeom>
          <a:noFill/>
        </p:spPr>
        <p:txBody>
          <a:bodyPr wrap="square" rtlCol="0"/>
          <a:lstStyle/>
          <a:p>
            <a:pPr algn="ctr"/>
            <a:r>
              <a:rPr lang="zh-TW" sz="1400" b="0" i="1" dirty="0">
                <a:solidFill>
                  <a:srgbClr val="5A6A80"/>
                </a:solidFill>
                <a:latin typeface="PingFang TC"/>
                <a:ea typeface="PingFang TC"/>
              </a:rPr>
              <a:t>圖：論文智能問卷管理系統介面示意（取自論文結論章節）</a:t>
            </a:r>
          </a:p>
        </p:txBody>
      </p:sp>
    </p:spTree>
    <p:extLst>
      <p:ext uri="{BB962C8B-B14F-4D97-AF65-F5344CB8AC3E}">
        <p14:creationId xmlns:p14="http://schemas.microsoft.com/office/powerpoint/2010/main" val="70580197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F0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HeaderBar"/>
          <p:cNvSpPr>
            <a:spLocks noGrp="1"/>
          </p:cNvSpPr>
          <p:nvPr/>
        </p:nvSpPr>
        <p:spPr>
          <a:xfrm>
            <a:off x="0" y="0"/>
            <a:ext cx="8754000" cy="631080"/>
          </a:xfrm>
          <a:prstGeom prst="rect">
            <a:avLst/>
          </a:prstGeom>
          <a:solidFill>
            <a:srgbClr val="162A4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1" name="AccentLine"/>
          <p:cNvSpPr>
            <a:spLocks noGrp="1"/>
          </p:cNvSpPr>
          <p:nvPr/>
        </p:nvSpPr>
        <p:spPr>
          <a:xfrm>
            <a:off x="0" y="631080"/>
            <a:ext cx="8754000" cy="36576"/>
          </a:xfrm>
          <a:prstGeom prst="rect">
            <a:avLst/>
          </a:prstGeom>
          <a:solidFill>
            <a:srgbClr val="E09F3E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02" name="SectionLabel"/>
          <p:cNvSpPr txBox="1"/>
          <p:nvPr/>
        </p:nvSpPr>
        <p:spPr>
          <a:xfrm>
            <a:off x="328000" y="63500"/>
            <a:ext cx="4500000" cy="20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zh-TW" sz="1300" b="1" dirty="0">
                <a:solidFill>
                  <a:srgbClr val="E09F3E"/>
                </a:solidFill>
                <a:latin typeface="PingFang TC"/>
                <a:ea typeface="PingFang TC"/>
              </a:rPr>
              <a:t>結論與貢獻</a:t>
            </a:r>
          </a:p>
        </p:txBody>
      </p:sp>
      <p:sp>
        <p:nvSpPr>
          <p:cNvPr id="103" name="SlideTitle"/>
          <p:cNvSpPr txBox="1"/>
          <p:nvPr/>
        </p:nvSpPr>
        <p:spPr>
          <a:xfrm>
            <a:off x="328000" y="218000"/>
            <a:ext cx="8146000" cy="410000"/>
          </a:xfrm>
          <a:prstGeom prst="rect">
            <a:avLst/>
          </a:prstGeom>
          <a:noFill/>
        </p:spPr>
        <p:txBody>
          <a:bodyPr wrap="square" rtlCol="0"/>
          <a:lstStyle/>
          <a:p>
            <a:pPr algn="l"/>
            <a:r>
              <a:rPr lang="zh-TW" sz="2500" b="1" dirty="0">
                <a:solidFill>
                  <a:srgbClr val="FFFFFF"/>
                </a:solidFill>
                <a:latin typeface="PingFang TC"/>
                <a:ea typeface="PingFang TC"/>
              </a:rPr>
              <a:t>研究成果示意</a:t>
            </a:r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EA3F5A2F-1D90-108C-6A5D-5A602487A8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1400" y="825500"/>
            <a:ext cx="10083800" cy="5842000"/>
          </a:xfrm>
          <a:prstGeom prst="rect">
            <a:avLst/>
          </a:prstGeom>
        </p:spPr>
      </p:pic>
      <p:sp>
        <p:nvSpPr>
          <p:cNvPr id="104" name="Caption"/>
          <p:cNvSpPr txBox="1"/>
          <p:nvPr/>
        </p:nvSpPr>
        <p:spPr>
          <a:xfrm>
            <a:off x="1016000" y="6578600"/>
            <a:ext cx="10160000" cy="228600"/>
          </a:xfrm>
          <a:prstGeom prst="rect">
            <a:avLst/>
          </a:prstGeom>
          <a:solidFill>
            <a:srgbClr val="EBF0F5"/>
          </a:solidFill>
        </p:spPr>
        <p:txBody>
          <a:bodyPr wrap="square" rtlCol="0"/>
          <a:lstStyle/>
          <a:p>
            <a:pPr algn="ctr"/>
            <a:r>
              <a:rPr lang="zh-TW" sz="1200" b="0" i="1" dirty="0">
                <a:solidFill>
                  <a:srgbClr val="5A6A80"/>
                </a:solidFill>
                <a:latin typeface="PingFang TC"/>
                <a:ea typeface="PingFang TC"/>
              </a:rPr>
              <a:t>圖：研究成果示意（取自論文結論章節）</a:t>
            </a:r>
          </a:p>
        </p:txBody>
      </p:sp>
    </p:spTree>
    <p:extLst>
      <p:ext uri="{BB962C8B-B14F-4D97-AF65-F5344CB8AC3E}">
        <p14:creationId xmlns:p14="http://schemas.microsoft.com/office/powerpoint/2010/main" val="35492396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FA117C2-1160-4F44-B585-2587795D763C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d388cba3-b895-4cc2-937c-63163da733e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10105</TotalTime>
  <Words>9494</Words>
  <Application>Microsoft Macintosh PowerPoint</Application>
  <PresentationFormat>寬螢幕</PresentationFormat>
  <Paragraphs>1120</Paragraphs>
  <Slides>51</Slides>
  <Notes>50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51</vt:i4>
      </vt:variant>
    </vt:vector>
  </HeadingPairs>
  <TitlesOfParts>
    <vt:vector size="56" baseType="lpstr">
      <vt:lpstr>PingFang TC</vt:lpstr>
      <vt:lpstr>Aptos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李昇峰</cp:lastModifiedBy>
  <cp:revision>3</cp:revision>
  <dcterms:created xsi:type="dcterms:W3CDTF">2013-01-27T09:14:16Z</dcterms:created>
  <dcterms:modified xsi:type="dcterms:W3CDTF">2026-06-10T08:13:30Z</dcterms:modified>
  <cp:category/>
</cp:coreProperties>
</file>